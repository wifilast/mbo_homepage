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45" r:id="rId2"/>
    <p:sldId id="363" r:id="rId3"/>
    <p:sldId id="364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2F6"/>
    <a:srgbClr val="0A172B"/>
    <a:srgbClr val="1A1F30"/>
    <a:srgbClr val="007AFF"/>
    <a:srgbClr val="0D0761"/>
    <a:srgbClr val="030755"/>
    <a:srgbClr val="15254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3047C-664C-4371-9230-C778BB589073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8C9C3-9551-4717-9CB1-D5CC99D644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16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32003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380E8-C94B-3336-B0F3-976616F4B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F859E04-D7AB-57A1-7639-46DFF9769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B75B034-9394-FD60-6540-F730BFC90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566B9B-725D-7D4F-E7D2-44FB267E12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24277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20F54-A560-FB41-2CF7-30334C03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709B171-472C-4F07-907B-C0FF0F0DC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7A7F202-43C5-FFE9-61FB-91D68F9EC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801E8C-900F-E472-5D23-7DE04D7F5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34242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7A2D8C-43A2-5798-8968-5CFD89D1A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065316"/>
            <a:ext cx="10795820" cy="53018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78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32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mailto:office@mbo-trinity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BD2693E-2775-8FFB-F8E8-740252561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F0541F8-EA5A-F843-516F-87DD600B2588}"/>
              </a:ext>
            </a:extLst>
          </p:cNvPr>
          <p:cNvSpPr txBox="1"/>
          <p:nvPr/>
        </p:nvSpPr>
        <p:spPr>
          <a:xfrm>
            <a:off x="3473523" y="43082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2FAC60C-43FF-B5B1-B0FF-4B57D13DC741}"/>
              </a:ext>
            </a:extLst>
          </p:cNvPr>
          <p:cNvSpPr txBox="1"/>
          <p:nvPr/>
        </p:nvSpPr>
        <p:spPr>
          <a:xfrm>
            <a:off x="5450356" y="43082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AE5A00D-F6BF-FB43-484E-20AC764BDCCC}"/>
              </a:ext>
            </a:extLst>
          </p:cNvPr>
          <p:cNvSpPr txBox="1"/>
          <p:nvPr/>
        </p:nvSpPr>
        <p:spPr>
          <a:xfrm>
            <a:off x="7195264" y="43082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C47053-32FB-D9EA-11BB-7761DCB8628A}"/>
              </a:ext>
            </a:extLst>
          </p:cNvPr>
          <p:cNvSpPr txBox="1"/>
          <p:nvPr/>
        </p:nvSpPr>
        <p:spPr>
          <a:xfrm>
            <a:off x="8915463" y="43082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21" name="Grafik 20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FBD8890F-A326-C8EF-4668-C02F7EC5D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660371" y="507102"/>
            <a:ext cx="331953" cy="216767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E5A39E5C-3A32-E174-E85F-6F8C444AB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23" y="2062246"/>
            <a:ext cx="4853370" cy="1694288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F47B1A59-AA77-880F-57DC-BFB2C6143F12}"/>
              </a:ext>
            </a:extLst>
          </p:cNvPr>
          <p:cNvSpPr txBox="1"/>
          <p:nvPr/>
        </p:nvSpPr>
        <p:spPr>
          <a:xfrm>
            <a:off x="3473523" y="3757442"/>
            <a:ext cx="504916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Partner </a:t>
            </a:r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Technological Excellence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6F6A43A6-D01F-34D4-0D43-7BE4D26F7593}"/>
              </a:ext>
            </a:extLst>
          </p:cNvPr>
          <p:cNvCxnSpPr/>
          <p:nvPr/>
        </p:nvCxnSpPr>
        <p:spPr>
          <a:xfrm>
            <a:off x="0" y="1545996"/>
            <a:ext cx="12192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A6D45A8B-78E5-AC2E-B26A-CC96E5C3DBF0}"/>
              </a:ext>
            </a:extLst>
          </p:cNvPr>
          <p:cNvCxnSpPr>
            <a:cxnSpLocks/>
          </p:cNvCxnSpPr>
          <p:nvPr/>
        </p:nvCxnSpPr>
        <p:spPr>
          <a:xfrm>
            <a:off x="-97896" y="4658413"/>
            <a:ext cx="1228989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8D0613E0-9B4F-789B-D44A-AFE036ADAD49}"/>
              </a:ext>
            </a:extLst>
          </p:cNvPr>
          <p:cNvSpPr txBox="1"/>
          <p:nvPr/>
        </p:nvSpPr>
        <p:spPr>
          <a:xfrm>
            <a:off x="10302322" y="1578920"/>
            <a:ext cx="1587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 err="1">
                <a:solidFill>
                  <a:srgbClr val="FFFF00"/>
                </a:solidFill>
              </a:rPr>
              <a:t>Blidbereich</a:t>
            </a:r>
            <a:r>
              <a:rPr lang="de-DE" sz="1000" dirty="0">
                <a:solidFill>
                  <a:srgbClr val="FFFF00"/>
                </a:solidFill>
              </a:rPr>
              <a:t> / Fotoserie 1</a:t>
            </a: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9BFBBA49-BAE8-D386-ACCF-84BE9AB66962}"/>
              </a:ext>
            </a:extLst>
          </p:cNvPr>
          <p:cNvSpPr/>
          <p:nvPr/>
        </p:nvSpPr>
        <p:spPr>
          <a:xfrm>
            <a:off x="1224502" y="4421170"/>
            <a:ext cx="4498042" cy="1781665"/>
          </a:xfrm>
          <a:prstGeom prst="roundRect">
            <a:avLst/>
          </a:prstGeom>
          <a:solidFill>
            <a:srgbClr val="1A1F30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74CF1945-7D25-9CB9-B24B-7CC8B92E5320}"/>
              </a:ext>
            </a:extLst>
          </p:cNvPr>
          <p:cNvSpPr txBox="1"/>
          <p:nvPr/>
        </p:nvSpPr>
        <p:spPr>
          <a:xfrm>
            <a:off x="1470201" y="4473746"/>
            <a:ext cx="2003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2000" b="1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57003C55-4FE7-5BE8-120D-2AB3221C480A}"/>
              </a:ext>
            </a:extLst>
          </p:cNvPr>
          <p:cNvSpPr txBox="1"/>
          <p:nvPr/>
        </p:nvSpPr>
        <p:spPr>
          <a:xfrm>
            <a:off x="1431175" y="4895654"/>
            <a:ext cx="42077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  <a:buSzPct val="90000"/>
            </a:pPr>
            <a:r>
              <a:rPr lang="de-DE" sz="1400" dirty="0">
                <a:solidFill>
                  <a:schemeClr val="bg1"/>
                </a:solidFill>
              </a:rPr>
              <a:t>Die MBO Trinity GmbH ist ein führender Anbieter von hochpräzisen Ingenieurdienstleistungen und innovativen Lösungen für die Errichtung von Reinräumen, Prüfständen, die Anlagenintegration und den Sonderanlagenbau.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DB336669-1E50-BA50-4B4A-2C467FCE6493}"/>
              </a:ext>
            </a:extLst>
          </p:cNvPr>
          <p:cNvSpPr/>
          <p:nvPr/>
        </p:nvSpPr>
        <p:spPr>
          <a:xfrm>
            <a:off x="6666442" y="4421171"/>
            <a:ext cx="4498042" cy="1781665"/>
          </a:xfrm>
          <a:prstGeom prst="roundRect">
            <a:avLst/>
          </a:prstGeom>
          <a:solidFill>
            <a:srgbClr val="1A1F30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BDD87FA6-C570-690F-CA1F-898D7383C854}"/>
              </a:ext>
            </a:extLst>
          </p:cNvPr>
          <p:cNvSpPr txBox="1"/>
          <p:nvPr/>
        </p:nvSpPr>
        <p:spPr>
          <a:xfrm>
            <a:off x="6811587" y="4473746"/>
            <a:ext cx="1819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2000" b="1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D9F95611-A536-F438-4C5E-5D30B83E9A5B}"/>
              </a:ext>
            </a:extLst>
          </p:cNvPr>
          <p:cNvSpPr txBox="1"/>
          <p:nvPr/>
        </p:nvSpPr>
        <p:spPr>
          <a:xfrm>
            <a:off x="6811587" y="4760123"/>
            <a:ext cx="42077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  <a:buSzPct val="90000"/>
            </a:pPr>
            <a:r>
              <a:rPr lang="de-DE" sz="1400" dirty="0">
                <a:solidFill>
                  <a:schemeClr val="bg1"/>
                </a:solidFill>
              </a:rPr>
              <a:t>Aus der Halbleiterindustrie kommend, mit einem starken Fokus auf Spitzentechnologie und Innovation, erfüllen unsre Produkte und Dienstleistungen zukunftsweisende Lösungen, die den höchsten Ansprüchen an Präzision, Zuverlässigkeit und Effizienz gerecht werden.</a:t>
            </a:r>
          </a:p>
        </p:txBody>
      </p:sp>
      <p:sp>
        <p:nvSpPr>
          <p:cNvPr id="36" name="Flussdiagramm: Prozess 35">
            <a:extLst>
              <a:ext uri="{FF2B5EF4-FFF2-40B4-BE49-F238E27FC236}">
                <a16:creationId xmlns:a16="http://schemas.microsoft.com/office/drawing/2014/main" id="{E2836311-1C93-9DBA-87B0-B4513AD8AF34}"/>
              </a:ext>
            </a:extLst>
          </p:cNvPr>
          <p:cNvSpPr/>
          <p:nvPr/>
        </p:nvSpPr>
        <p:spPr>
          <a:xfrm>
            <a:off x="754144" y="2552313"/>
            <a:ext cx="2303818" cy="652014"/>
          </a:xfrm>
          <a:prstGeom prst="flowChartProcess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77101421-7978-8C98-709F-AFA01AA5F359}"/>
              </a:ext>
            </a:extLst>
          </p:cNvPr>
          <p:cNvSpPr txBox="1"/>
          <p:nvPr/>
        </p:nvSpPr>
        <p:spPr>
          <a:xfrm>
            <a:off x="1024036" y="2753637"/>
            <a:ext cx="1587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>
                <a:solidFill>
                  <a:srgbClr val="FFFF00"/>
                </a:solidFill>
              </a:rPr>
              <a:t>Textserie 1</a:t>
            </a:r>
          </a:p>
        </p:txBody>
      </p:sp>
    </p:spTree>
    <p:extLst>
      <p:ext uri="{BB962C8B-B14F-4D97-AF65-F5344CB8AC3E}">
        <p14:creationId xmlns:p14="http://schemas.microsoft.com/office/powerpoint/2010/main" val="213709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0CCA0-8628-5CE0-F54B-30637E2AA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2025C932-7BCD-B90B-3F6E-F8100D2DB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A8EDAAF-7F2A-EB3A-631E-083F028750DB}"/>
              </a:ext>
            </a:extLst>
          </p:cNvPr>
          <p:cNvSpPr txBox="1"/>
          <p:nvPr/>
        </p:nvSpPr>
        <p:spPr>
          <a:xfrm>
            <a:off x="3473523" y="43082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D25B49A-1E8D-8570-9D41-DA74BE687E35}"/>
              </a:ext>
            </a:extLst>
          </p:cNvPr>
          <p:cNvSpPr txBox="1"/>
          <p:nvPr/>
        </p:nvSpPr>
        <p:spPr>
          <a:xfrm>
            <a:off x="5450356" y="43082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E1EC722-27D2-A50B-CDF3-B456A5A36420}"/>
              </a:ext>
            </a:extLst>
          </p:cNvPr>
          <p:cNvSpPr txBox="1"/>
          <p:nvPr/>
        </p:nvSpPr>
        <p:spPr>
          <a:xfrm>
            <a:off x="7195264" y="43082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336EEE1-DA22-EE70-DD77-03C399FA8826}"/>
              </a:ext>
            </a:extLst>
          </p:cNvPr>
          <p:cNvSpPr txBox="1"/>
          <p:nvPr/>
        </p:nvSpPr>
        <p:spPr>
          <a:xfrm>
            <a:off x="8915463" y="43082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21" name="Grafik 20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4B3185D5-987E-1515-C5BD-FEDC02431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660371" y="507102"/>
            <a:ext cx="331953" cy="21676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0EAC011-52F3-A30D-346A-F0AE5EECF316}"/>
              </a:ext>
            </a:extLst>
          </p:cNvPr>
          <p:cNvSpPr txBox="1"/>
          <p:nvPr/>
        </p:nvSpPr>
        <p:spPr>
          <a:xfrm>
            <a:off x="755844" y="1248197"/>
            <a:ext cx="106803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chemeClr val="bg1"/>
                </a:solidFill>
              </a:rPr>
              <a:t>Die MBO plant und errichtet Prozessumgebungen wie Reinräume, Prüf-, Mess- und Klimakammern mit den zum Betrieb erforderlichen Anlagen und Aggregaten so, dass strengste Spezifikationen erfüllt werden und die Arbeitsprozesse in diesen Prozessumgebungen sicher und effizient durchgeführt werden können.</a:t>
            </a: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B319E2B-3C22-6A91-21E8-5DF2FC424A93}"/>
              </a:ext>
            </a:extLst>
          </p:cNvPr>
          <p:cNvSpPr txBox="1"/>
          <p:nvPr/>
        </p:nvSpPr>
        <p:spPr>
          <a:xfrm>
            <a:off x="755845" y="2312449"/>
            <a:ext cx="10680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chemeClr val="bg1"/>
                </a:solidFill>
              </a:rPr>
              <a:t>Die MBO integriert investitionsintensive Anlagen im Wert von 2-stelligen Millionen Euro Beträgen, wie z.B. MBMW-Tools, </a:t>
            </a:r>
            <a:r>
              <a:rPr lang="de-AT" dirty="0" err="1">
                <a:solidFill>
                  <a:schemeClr val="bg1"/>
                </a:solidFill>
              </a:rPr>
              <a:t>Photomask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development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systems</a:t>
            </a:r>
            <a:r>
              <a:rPr lang="de-AT" dirty="0">
                <a:solidFill>
                  <a:schemeClr val="bg1"/>
                </a:solidFill>
              </a:rPr>
              <a:t>, Scanning </a:t>
            </a:r>
            <a:r>
              <a:rPr lang="de-AT" dirty="0" err="1">
                <a:solidFill>
                  <a:schemeClr val="bg1"/>
                </a:solidFill>
              </a:rPr>
              <a:t>Electron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Microscopes</a:t>
            </a:r>
            <a:r>
              <a:rPr lang="de-AT" dirty="0">
                <a:solidFill>
                  <a:schemeClr val="bg1"/>
                </a:solidFill>
              </a:rPr>
              <a:t>, Test </a:t>
            </a:r>
            <a:r>
              <a:rPr lang="de-AT" dirty="0" err="1">
                <a:solidFill>
                  <a:schemeClr val="bg1"/>
                </a:solidFill>
              </a:rPr>
              <a:t>benches</a:t>
            </a:r>
            <a:r>
              <a:rPr lang="de-AT" dirty="0">
                <a:solidFill>
                  <a:schemeClr val="bg1"/>
                </a:solidFill>
              </a:rPr>
              <a:t>, Climate Chambers, Cluster, usw., in Prozessumgebungen. Die Leistungen der MBO umfassen dabei den vollen Projektzyklus. </a:t>
            </a:r>
            <a:endParaRPr lang="de-DE" dirty="0">
              <a:solidFill>
                <a:srgbClr val="FFFFFF"/>
              </a:solidFill>
            </a:endParaRP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8048CB3A-8F8E-DFB4-F2F7-5C652F070C0C}"/>
              </a:ext>
            </a:extLst>
          </p:cNvPr>
          <p:cNvGrpSpPr/>
          <p:nvPr/>
        </p:nvGrpSpPr>
        <p:grpSpPr>
          <a:xfrm>
            <a:off x="755844" y="4388028"/>
            <a:ext cx="10455217" cy="1830895"/>
            <a:chOff x="963954" y="1146504"/>
            <a:chExt cx="6048363" cy="1404773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89221B4D-3E82-0CC2-5E7F-3C6FD78B325C}"/>
                </a:ext>
              </a:extLst>
            </p:cNvPr>
            <p:cNvGrpSpPr/>
            <p:nvPr/>
          </p:nvGrpSpPr>
          <p:grpSpPr>
            <a:xfrm>
              <a:off x="963954" y="1146504"/>
              <a:ext cx="6048363" cy="1092584"/>
              <a:chOff x="968967" y="1144690"/>
              <a:chExt cx="6336332" cy="1110449"/>
            </a:xfrm>
          </p:grpSpPr>
          <p:sp>
            <p:nvSpPr>
              <p:cNvPr id="43" name="Pfeil: Fünfeck 42">
                <a:extLst>
                  <a:ext uri="{FF2B5EF4-FFF2-40B4-BE49-F238E27FC236}">
                    <a16:creationId xmlns:a16="http://schemas.microsoft.com/office/drawing/2014/main" id="{00658278-16F5-AD0E-BDBF-88E520521C12}"/>
                  </a:ext>
                </a:extLst>
              </p:cNvPr>
              <p:cNvSpPr/>
              <p:nvPr/>
            </p:nvSpPr>
            <p:spPr>
              <a:xfrm>
                <a:off x="1188222" y="1144690"/>
                <a:ext cx="1589381" cy="354898"/>
              </a:xfrm>
              <a:prstGeom prst="homePlate">
                <a:avLst/>
              </a:prstGeom>
              <a:solidFill>
                <a:schemeClr val="accent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300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Initialization</a:t>
                </a:r>
                <a:endParaRPr lang="de-DE" sz="13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Pfeil: Fünfeck 43">
                <a:extLst>
                  <a:ext uri="{FF2B5EF4-FFF2-40B4-BE49-F238E27FC236}">
                    <a16:creationId xmlns:a16="http://schemas.microsoft.com/office/drawing/2014/main" id="{2290D57B-D59F-65E0-C0EC-2FA543EC6DF7}"/>
                  </a:ext>
                </a:extLst>
              </p:cNvPr>
              <p:cNvSpPr/>
              <p:nvPr/>
            </p:nvSpPr>
            <p:spPr>
              <a:xfrm>
                <a:off x="2691562" y="1151758"/>
                <a:ext cx="1589381" cy="354898"/>
              </a:xfrm>
              <a:prstGeom prst="homePlate">
                <a:avLst/>
              </a:prstGeom>
              <a:solidFill>
                <a:schemeClr val="accent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e-AT" sz="1300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Basic Engineering</a:t>
                </a:r>
                <a:endParaRPr lang="de-DE" sz="13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Pfeil: Fünfeck 44">
                <a:extLst>
                  <a:ext uri="{FF2B5EF4-FFF2-40B4-BE49-F238E27FC236}">
                    <a16:creationId xmlns:a16="http://schemas.microsoft.com/office/drawing/2014/main" id="{772D70B9-7B5C-0B2A-1799-73843C7829D0}"/>
                  </a:ext>
                </a:extLst>
              </p:cNvPr>
              <p:cNvSpPr/>
              <p:nvPr/>
            </p:nvSpPr>
            <p:spPr>
              <a:xfrm>
                <a:off x="4212576" y="1151759"/>
                <a:ext cx="1589381" cy="354898"/>
              </a:xfrm>
              <a:prstGeom prst="homePlate">
                <a:avLst/>
              </a:prstGeom>
              <a:solidFill>
                <a:schemeClr val="accent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e-AT" sz="1300" kern="1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Offer</a:t>
                </a:r>
                <a:endParaRPr lang="de-DE" sz="13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Pfeil: Fünfeck 45">
                <a:extLst>
                  <a:ext uri="{FF2B5EF4-FFF2-40B4-BE49-F238E27FC236}">
                    <a16:creationId xmlns:a16="http://schemas.microsoft.com/office/drawing/2014/main" id="{7C24FC7E-DA8E-B64D-3E46-CA4AC64F8098}"/>
                  </a:ext>
                </a:extLst>
              </p:cNvPr>
              <p:cNvSpPr/>
              <p:nvPr/>
            </p:nvSpPr>
            <p:spPr>
              <a:xfrm>
                <a:off x="5715918" y="1151759"/>
                <a:ext cx="1589381" cy="354898"/>
              </a:xfrm>
              <a:prstGeom prst="homePlate">
                <a:avLst/>
              </a:prstGeom>
              <a:solidFill>
                <a:schemeClr val="accent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e-AT" sz="1300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Detail Engineering</a:t>
                </a:r>
                <a:endParaRPr lang="de-DE" sz="13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Pfeil: Fünfeck 46">
                <a:extLst>
                  <a:ext uri="{FF2B5EF4-FFF2-40B4-BE49-F238E27FC236}">
                    <a16:creationId xmlns:a16="http://schemas.microsoft.com/office/drawing/2014/main" id="{2654B6BE-37C8-34F9-2A62-81FA56856BD9}"/>
                  </a:ext>
                </a:extLst>
              </p:cNvPr>
              <p:cNvSpPr/>
              <p:nvPr/>
            </p:nvSpPr>
            <p:spPr>
              <a:xfrm>
                <a:off x="1188222" y="1900241"/>
                <a:ext cx="1589381" cy="354898"/>
              </a:xfrm>
              <a:prstGeom prst="homePlate">
                <a:avLst/>
              </a:prstGeom>
              <a:solidFill>
                <a:schemeClr val="accent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e-AT" sz="1300" kern="100" dirty="0">
                    <a:solidFill>
                      <a:schemeClr val="bg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Construction</a:t>
                </a:r>
                <a:endParaRPr lang="de-DE" sz="1300" kern="100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Pfeil: Fünfeck 47">
                <a:extLst>
                  <a:ext uri="{FF2B5EF4-FFF2-40B4-BE49-F238E27FC236}">
                    <a16:creationId xmlns:a16="http://schemas.microsoft.com/office/drawing/2014/main" id="{0186D9C5-9AE1-4FD8-7FFF-369AD38607D6}"/>
                  </a:ext>
                </a:extLst>
              </p:cNvPr>
              <p:cNvSpPr/>
              <p:nvPr/>
            </p:nvSpPr>
            <p:spPr>
              <a:xfrm>
                <a:off x="2727713" y="1897158"/>
                <a:ext cx="1589381" cy="354898"/>
              </a:xfrm>
              <a:prstGeom prst="homePlate">
                <a:avLst/>
              </a:prstGeom>
              <a:solidFill>
                <a:schemeClr val="accent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e-AT" sz="1300" kern="100" dirty="0" err="1">
                    <a:solidFill>
                      <a:schemeClr val="bg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Commissioning</a:t>
                </a:r>
                <a:endParaRPr lang="de-DE" sz="1300" kern="100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Pfeil: Fünfeck 48">
                <a:extLst>
                  <a:ext uri="{FF2B5EF4-FFF2-40B4-BE49-F238E27FC236}">
                    <a16:creationId xmlns:a16="http://schemas.microsoft.com/office/drawing/2014/main" id="{83660EA9-8DD2-045E-3067-1C93AF022B81}"/>
                  </a:ext>
                </a:extLst>
              </p:cNvPr>
              <p:cNvSpPr/>
              <p:nvPr/>
            </p:nvSpPr>
            <p:spPr>
              <a:xfrm>
                <a:off x="4267205" y="1894243"/>
                <a:ext cx="1589381" cy="354898"/>
              </a:xfrm>
              <a:prstGeom prst="homePlate">
                <a:avLst/>
              </a:prstGeom>
              <a:solidFill>
                <a:schemeClr val="accent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e-AT" sz="1300" kern="1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Handover</a:t>
                </a:r>
                <a:endParaRPr lang="de-DE" sz="13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Raute 49">
                <a:extLst>
                  <a:ext uri="{FF2B5EF4-FFF2-40B4-BE49-F238E27FC236}">
                    <a16:creationId xmlns:a16="http://schemas.microsoft.com/office/drawing/2014/main" id="{45B221C4-4A89-BBCB-4762-7C13D805289C}"/>
                  </a:ext>
                </a:extLst>
              </p:cNvPr>
              <p:cNvSpPr/>
              <p:nvPr/>
            </p:nvSpPr>
            <p:spPr>
              <a:xfrm>
                <a:off x="972968" y="1200297"/>
                <a:ext cx="333967" cy="267787"/>
              </a:xfrm>
              <a:prstGeom prst="diamond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de-AT" sz="1300" dirty="0"/>
                  <a:t>G0</a:t>
                </a:r>
                <a:endParaRPr lang="de-DE" sz="1300" dirty="0"/>
              </a:p>
            </p:txBody>
          </p:sp>
          <p:sp>
            <p:nvSpPr>
              <p:cNvPr id="51" name="Raute 50">
                <a:extLst>
                  <a:ext uri="{FF2B5EF4-FFF2-40B4-BE49-F238E27FC236}">
                    <a16:creationId xmlns:a16="http://schemas.microsoft.com/office/drawing/2014/main" id="{A087D807-63ED-4950-23EA-096B3F1AA859}"/>
                  </a:ext>
                </a:extLst>
              </p:cNvPr>
              <p:cNvSpPr/>
              <p:nvPr/>
            </p:nvSpPr>
            <p:spPr>
              <a:xfrm>
                <a:off x="2530415" y="1218987"/>
                <a:ext cx="333967" cy="253650"/>
              </a:xfrm>
              <a:prstGeom prst="diamond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de-AT" sz="1300" dirty="0"/>
                  <a:t>G1</a:t>
                </a:r>
                <a:endParaRPr lang="de-DE" sz="1300" dirty="0"/>
              </a:p>
            </p:txBody>
          </p:sp>
          <p:sp>
            <p:nvSpPr>
              <p:cNvPr id="52" name="Raute 51">
                <a:extLst>
                  <a:ext uri="{FF2B5EF4-FFF2-40B4-BE49-F238E27FC236}">
                    <a16:creationId xmlns:a16="http://schemas.microsoft.com/office/drawing/2014/main" id="{ABD6EFA4-B1B7-CE5E-7C18-EBA6E721BC5E}"/>
                  </a:ext>
                </a:extLst>
              </p:cNvPr>
              <p:cNvSpPr/>
              <p:nvPr/>
            </p:nvSpPr>
            <p:spPr>
              <a:xfrm>
                <a:off x="4039190" y="1214436"/>
                <a:ext cx="333967" cy="253650"/>
              </a:xfrm>
              <a:prstGeom prst="diamond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de-AT" sz="1300" dirty="0"/>
                  <a:t>G2</a:t>
                </a:r>
                <a:endParaRPr lang="de-DE" sz="1300" dirty="0"/>
              </a:p>
            </p:txBody>
          </p:sp>
          <p:sp>
            <p:nvSpPr>
              <p:cNvPr id="53" name="Raute 52">
                <a:extLst>
                  <a:ext uri="{FF2B5EF4-FFF2-40B4-BE49-F238E27FC236}">
                    <a16:creationId xmlns:a16="http://schemas.microsoft.com/office/drawing/2014/main" id="{3E805758-44EB-8318-A792-957D181A7D3B}"/>
                  </a:ext>
                </a:extLst>
              </p:cNvPr>
              <p:cNvSpPr/>
              <p:nvPr/>
            </p:nvSpPr>
            <p:spPr>
              <a:xfrm>
                <a:off x="5542530" y="1214436"/>
                <a:ext cx="333967" cy="253650"/>
              </a:xfrm>
              <a:prstGeom prst="diamond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de-AT" sz="1300" dirty="0"/>
                  <a:t>G3</a:t>
                </a:r>
                <a:endParaRPr lang="de-DE" sz="1300" dirty="0"/>
              </a:p>
            </p:txBody>
          </p:sp>
          <p:sp>
            <p:nvSpPr>
              <p:cNvPr id="54" name="Raute 53">
                <a:extLst>
                  <a:ext uri="{FF2B5EF4-FFF2-40B4-BE49-F238E27FC236}">
                    <a16:creationId xmlns:a16="http://schemas.microsoft.com/office/drawing/2014/main" id="{59B89055-F3CB-B584-1477-0A0EC62F0774}"/>
                  </a:ext>
                </a:extLst>
              </p:cNvPr>
              <p:cNvSpPr/>
              <p:nvPr/>
            </p:nvSpPr>
            <p:spPr>
              <a:xfrm>
                <a:off x="968967" y="1958733"/>
                <a:ext cx="333967" cy="253650"/>
              </a:xfrm>
              <a:prstGeom prst="diamond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de-AT" sz="1300" dirty="0"/>
                  <a:t>G4</a:t>
                </a:r>
                <a:endParaRPr lang="de-DE" sz="1300" dirty="0"/>
              </a:p>
            </p:txBody>
          </p:sp>
          <p:sp>
            <p:nvSpPr>
              <p:cNvPr id="55" name="Raute 54">
                <a:extLst>
                  <a:ext uri="{FF2B5EF4-FFF2-40B4-BE49-F238E27FC236}">
                    <a16:creationId xmlns:a16="http://schemas.microsoft.com/office/drawing/2014/main" id="{65CB350F-8621-4DF3-A312-2147855C9D58}"/>
                  </a:ext>
                </a:extLst>
              </p:cNvPr>
              <p:cNvSpPr/>
              <p:nvPr/>
            </p:nvSpPr>
            <p:spPr>
              <a:xfrm>
                <a:off x="2538724" y="1952770"/>
                <a:ext cx="333967" cy="253650"/>
              </a:xfrm>
              <a:prstGeom prst="diamond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de-AT" sz="1300" dirty="0"/>
                  <a:t>G5</a:t>
                </a:r>
                <a:endParaRPr lang="de-DE" sz="1300" dirty="0"/>
              </a:p>
            </p:txBody>
          </p:sp>
          <p:sp>
            <p:nvSpPr>
              <p:cNvPr id="56" name="Raute 55">
                <a:extLst>
                  <a:ext uri="{FF2B5EF4-FFF2-40B4-BE49-F238E27FC236}">
                    <a16:creationId xmlns:a16="http://schemas.microsoft.com/office/drawing/2014/main" id="{F765755E-CE93-2E1B-E11F-E8627F48E753}"/>
                  </a:ext>
                </a:extLst>
              </p:cNvPr>
              <p:cNvSpPr/>
              <p:nvPr/>
            </p:nvSpPr>
            <p:spPr>
              <a:xfrm>
                <a:off x="4106663" y="1959834"/>
                <a:ext cx="333967" cy="253650"/>
              </a:xfrm>
              <a:prstGeom prst="diamond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de-AT" sz="1300" dirty="0"/>
                  <a:t>G6</a:t>
                </a:r>
                <a:endParaRPr lang="de-DE" sz="1300" dirty="0"/>
              </a:p>
            </p:txBody>
          </p:sp>
          <p:sp>
            <p:nvSpPr>
              <p:cNvPr id="57" name="Raute 56">
                <a:extLst>
                  <a:ext uri="{FF2B5EF4-FFF2-40B4-BE49-F238E27FC236}">
                    <a16:creationId xmlns:a16="http://schemas.microsoft.com/office/drawing/2014/main" id="{C29E085A-6505-A118-8430-CD74857CE361}"/>
                  </a:ext>
                </a:extLst>
              </p:cNvPr>
              <p:cNvSpPr/>
              <p:nvPr/>
            </p:nvSpPr>
            <p:spPr>
              <a:xfrm>
                <a:off x="5646154" y="1952772"/>
                <a:ext cx="333967" cy="253649"/>
              </a:xfrm>
              <a:prstGeom prst="diamond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de-AT" sz="1300" dirty="0"/>
                  <a:t>G7</a:t>
                </a:r>
                <a:endParaRPr lang="de-DE" sz="1300" dirty="0"/>
              </a:p>
            </p:txBody>
          </p:sp>
        </p:grpSp>
        <p:cxnSp>
          <p:nvCxnSpPr>
            <p:cNvPr id="14" name="Verbinder: gewinkelt 13">
              <a:extLst>
                <a:ext uri="{FF2B5EF4-FFF2-40B4-BE49-F238E27FC236}">
                  <a16:creationId xmlns:a16="http://schemas.microsoft.com/office/drawing/2014/main" id="{9FB6C19A-624B-3309-84D9-C01576B7A172}"/>
                </a:ext>
              </a:extLst>
            </p:cNvPr>
            <p:cNvCxnSpPr>
              <a:cxnSpLocks/>
              <a:stCxn id="50" idx="2"/>
              <a:endCxn id="15" idx="1"/>
            </p:cNvCxnSpPr>
            <p:nvPr/>
          </p:nvCxnSpPr>
          <p:spPr>
            <a:xfrm rot="16200000" flipH="1">
              <a:off x="1094207" y="1497654"/>
              <a:ext cx="153339" cy="87418"/>
            </a:xfrm>
            <a:prstGeom prst="bentConnector2">
              <a:avLst/>
            </a:prstGeom>
            <a:ln w="9525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2B13B00D-E73D-4217-D32D-6DCA10FCD9CA}"/>
                </a:ext>
              </a:extLst>
            </p:cNvPr>
            <p:cNvSpPr txBox="1"/>
            <p:nvPr/>
          </p:nvSpPr>
          <p:spPr>
            <a:xfrm>
              <a:off x="1214586" y="1518576"/>
              <a:ext cx="1583766" cy="1989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de-AT" sz="1300" dirty="0">
                  <a:solidFill>
                    <a:srgbClr val="FFFFFF"/>
                  </a:solidFill>
                </a:rPr>
                <a:t>Customer Request</a:t>
              </a:r>
              <a:endParaRPr lang="de-DE" sz="1300" dirty="0">
                <a:solidFill>
                  <a:srgbClr val="FFFFFF"/>
                </a:solidFill>
              </a:endParaRPr>
            </a:p>
          </p:txBody>
        </p:sp>
        <p:cxnSp>
          <p:nvCxnSpPr>
            <p:cNvPr id="16" name="Verbinder: gewinkelt 15">
              <a:extLst>
                <a:ext uri="{FF2B5EF4-FFF2-40B4-BE49-F238E27FC236}">
                  <a16:creationId xmlns:a16="http://schemas.microsoft.com/office/drawing/2014/main" id="{B7453DBF-3F5F-EB70-2B0C-C5CA1C4232C2}"/>
                </a:ext>
              </a:extLst>
            </p:cNvPr>
            <p:cNvCxnSpPr>
              <a:cxnSpLocks/>
              <a:stCxn id="51" idx="2"/>
              <a:endCxn id="17" idx="1"/>
            </p:cNvCxnSpPr>
            <p:nvPr/>
          </p:nvCxnSpPr>
          <p:spPr>
            <a:xfrm rot="16200000" flipH="1">
              <a:off x="2573798" y="1509207"/>
              <a:ext cx="139881" cy="59812"/>
            </a:xfrm>
            <a:prstGeom prst="bentConnector2">
              <a:avLst/>
            </a:prstGeom>
            <a:ln w="9525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05B2FE1E-D874-4ECF-D501-08E4A271AE08}"/>
                </a:ext>
              </a:extLst>
            </p:cNvPr>
            <p:cNvSpPr txBox="1"/>
            <p:nvPr/>
          </p:nvSpPr>
          <p:spPr>
            <a:xfrm>
              <a:off x="2673647" y="1509598"/>
              <a:ext cx="1425145" cy="1989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de-AT" sz="1300" dirty="0">
                  <a:solidFill>
                    <a:srgbClr val="FFFFFF"/>
                  </a:solidFill>
                </a:rPr>
                <a:t>Project Release</a:t>
              </a:r>
              <a:endParaRPr lang="de-DE" sz="1300" dirty="0">
                <a:solidFill>
                  <a:srgbClr val="FFFFFF"/>
                </a:solidFill>
              </a:endParaRPr>
            </a:p>
          </p:txBody>
        </p:sp>
        <p:cxnSp>
          <p:nvCxnSpPr>
            <p:cNvPr id="18" name="Verbinder: gewinkelt 17">
              <a:extLst>
                <a:ext uri="{FF2B5EF4-FFF2-40B4-BE49-F238E27FC236}">
                  <a16:creationId xmlns:a16="http://schemas.microsoft.com/office/drawing/2014/main" id="{652D8A90-A458-A50C-02B0-33065CA7147F}"/>
                </a:ext>
              </a:extLst>
            </p:cNvPr>
            <p:cNvCxnSpPr>
              <a:cxnSpLocks/>
              <a:stCxn id="52" idx="2"/>
              <a:endCxn id="37" idx="1"/>
            </p:cNvCxnSpPr>
            <p:nvPr/>
          </p:nvCxnSpPr>
          <p:spPr>
            <a:xfrm rot="16200000" flipH="1">
              <a:off x="4020943" y="1497792"/>
              <a:ext cx="191362" cy="125170"/>
            </a:xfrm>
            <a:prstGeom prst="bentConnector2">
              <a:avLst/>
            </a:prstGeom>
            <a:ln w="9525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Verbinder: gewinkelt 18">
              <a:extLst>
                <a:ext uri="{FF2B5EF4-FFF2-40B4-BE49-F238E27FC236}">
                  <a16:creationId xmlns:a16="http://schemas.microsoft.com/office/drawing/2014/main" id="{0AB4447D-9486-B3B7-EFAD-D42126C6255A}"/>
                </a:ext>
              </a:extLst>
            </p:cNvPr>
            <p:cNvCxnSpPr>
              <a:cxnSpLocks/>
              <a:stCxn id="54" idx="2"/>
              <a:endCxn id="40" idx="1"/>
            </p:cNvCxnSpPr>
            <p:nvPr/>
          </p:nvCxnSpPr>
          <p:spPr>
            <a:xfrm rot="16200000" flipH="1">
              <a:off x="1072683" y="2247686"/>
              <a:ext cx="205073" cy="103739"/>
            </a:xfrm>
            <a:prstGeom prst="bentConnector2">
              <a:avLst/>
            </a:prstGeom>
            <a:ln w="9525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Verbinder: gewinkelt 19">
              <a:extLst>
                <a:ext uri="{FF2B5EF4-FFF2-40B4-BE49-F238E27FC236}">
                  <a16:creationId xmlns:a16="http://schemas.microsoft.com/office/drawing/2014/main" id="{E019530A-71C2-B61C-12BC-1534E34DA46F}"/>
                </a:ext>
              </a:extLst>
            </p:cNvPr>
            <p:cNvCxnSpPr>
              <a:cxnSpLocks/>
              <a:stCxn id="55" idx="2"/>
              <a:endCxn id="41" idx="1"/>
            </p:cNvCxnSpPr>
            <p:nvPr/>
          </p:nvCxnSpPr>
          <p:spPr>
            <a:xfrm rot="16200000" flipH="1">
              <a:off x="2573028" y="2239890"/>
              <a:ext cx="207150" cy="109675"/>
            </a:xfrm>
            <a:prstGeom prst="bentConnector2">
              <a:avLst/>
            </a:prstGeom>
            <a:ln w="9525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Verbinder: gewinkelt 23">
              <a:extLst>
                <a:ext uri="{FF2B5EF4-FFF2-40B4-BE49-F238E27FC236}">
                  <a16:creationId xmlns:a16="http://schemas.microsoft.com/office/drawing/2014/main" id="{3BB12182-61BE-AAC5-8577-BE91C1E0B6EC}"/>
                </a:ext>
              </a:extLst>
            </p:cNvPr>
            <p:cNvCxnSpPr>
              <a:cxnSpLocks/>
              <a:stCxn id="56" idx="2"/>
              <a:endCxn id="42" idx="1"/>
            </p:cNvCxnSpPr>
            <p:nvPr/>
          </p:nvCxnSpPr>
          <p:spPr>
            <a:xfrm rot="16200000" flipH="1">
              <a:off x="4057239" y="2259307"/>
              <a:ext cx="200200" cy="77788"/>
            </a:xfrm>
            <a:prstGeom prst="bentConnector2">
              <a:avLst/>
            </a:prstGeom>
            <a:ln w="9525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Verbinder: gewinkelt 26">
              <a:extLst>
                <a:ext uri="{FF2B5EF4-FFF2-40B4-BE49-F238E27FC236}">
                  <a16:creationId xmlns:a16="http://schemas.microsoft.com/office/drawing/2014/main" id="{7860A8BD-E701-F47F-ADF9-B15CFF419E95}"/>
                </a:ext>
              </a:extLst>
            </p:cNvPr>
            <p:cNvCxnSpPr>
              <a:cxnSpLocks/>
              <a:stCxn id="57" idx="2"/>
              <a:endCxn id="31" idx="1"/>
            </p:cNvCxnSpPr>
            <p:nvPr/>
          </p:nvCxnSpPr>
          <p:spPr>
            <a:xfrm rot="16200000" flipH="1">
              <a:off x="5555328" y="2223797"/>
              <a:ext cx="155552" cy="90262"/>
            </a:xfrm>
            <a:prstGeom prst="bentConnector2">
              <a:avLst/>
            </a:prstGeom>
            <a:ln w="9525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B50CED24-A2A6-095B-FDAE-9BCFFF8547D3}"/>
                </a:ext>
              </a:extLst>
            </p:cNvPr>
            <p:cNvSpPr txBox="1"/>
            <p:nvPr/>
          </p:nvSpPr>
          <p:spPr>
            <a:xfrm>
              <a:off x="5678233" y="2247249"/>
              <a:ext cx="1039233" cy="1989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de-AT" sz="1300" dirty="0">
                  <a:solidFill>
                    <a:srgbClr val="FFFFFF"/>
                  </a:solidFill>
                </a:rPr>
                <a:t>Project End</a:t>
              </a:r>
              <a:endParaRPr lang="de-DE" sz="1300" dirty="0">
                <a:solidFill>
                  <a:srgbClr val="FFFFFF"/>
                </a:solidFill>
              </a:endParaRPr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56393D3A-EC1B-6FD1-5444-0A874D4245CE}"/>
                </a:ext>
              </a:extLst>
            </p:cNvPr>
            <p:cNvSpPr txBox="1"/>
            <p:nvPr/>
          </p:nvSpPr>
          <p:spPr>
            <a:xfrm>
              <a:off x="4179209" y="1506873"/>
              <a:ext cx="1359044" cy="29836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GB" sz="1300" dirty="0">
                  <a:solidFill>
                    <a:srgbClr val="FFFFFF"/>
                  </a:solidFill>
                </a:rPr>
                <a:t>Offer Planning Release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77C3A106-58AD-D804-AD15-E17D2B1477BF}"/>
                </a:ext>
              </a:extLst>
            </p:cNvPr>
            <p:cNvSpPr txBox="1"/>
            <p:nvPr/>
          </p:nvSpPr>
          <p:spPr>
            <a:xfrm>
              <a:off x="5594291" y="1502645"/>
              <a:ext cx="1359044" cy="29836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GB" sz="1300" dirty="0">
                  <a:solidFill>
                    <a:srgbClr val="FFFFFF"/>
                  </a:solidFill>
                </a:rPr>
                <a:t>Purchase Release</a:t>
              </a: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98433F49-2D3D-A2D9-C0C7-C4DCD6FE0CD4}"/>
                </a:ext>
              </a:extLst>
            </p:cNvPr>
            <p:cNvSpPr txBox="1"/>
            <p:nvPr/>
          </p:nvSpPr>
          <p:spPr>
            <a:xfrm>
              <a:off x="1227088" y="2252908"/>
              <a:ext cx="1303591" cy="29836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GB" sz="1300" dirty="0">
                  <a:solidFill>
                    <a:srgbClr val="FFFFFF"/>
                  </a:solidFill>
                </a:rPr>
                <a:t>Approval for Construction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D48090AD-3F29-2B99-9FD4-12C4444D9DCB}"/>
                </a:ext>
              </a:extLst>
            </p:cNvPr>
            <p:cNvSpPr txBox="1"/>
            <p:nvPr/>
          </p:nvSpPr>
          <p:spPr>
            <a:xfrm>
              <a:off x="2731438" y="2249118"/>
              <a:ext cx="1010556" cy="29836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GB" sz="1300" dirty="0">
                  <a:solidFill>
                    <a:srgbClr val="FFFFFF"/>
                  </a:solidFill>
                </a:rPr>
                <a:t>Inspection Release </a:t>
              </a: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F2D88302-88E3-C2C0-9314-A55A7AB2F1FD}"/>
                </a:ext>
              </a:extLst>
            </p:cNvPr>
            <p:cNvSpPr txBox="1"/>
            <p:nvPr/>
          </p:nvSpPr>
          <p:spPr>
            <a:xfrm>
              <a:off x="4196233" y="2249118"/>
              <a:ext cx="962749" cy="29836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GB" sz="1300" dirty="0">
                  <a:solidFill>
                    <a:srgbClr val="FFFFFF"/>
                  </a:solidFill>
                </a:rPr>
                <a:t>Startup Release</a:t>
              </a:r>
            </a:p>
          </p:txBody>
        </p:sp>
      </p:grpSp>
      <p:sp>
        <p:nvSpPr>
          <p:cNvPr id="58" name="Textfeld 57">
            <a:extLst>
              <a:ext uri="{FF2B5EF4-FFF2-40B4-BE49-F238E27FC236}">
                <a16:creationId xmlns:a16="http://schemas.microsoft.com/office/drawing/2014/main" id="{3112CCC7-6769-7892-D474-0619772A9351}"/>
              </a:ext>
            </a:extLst>
          </p:cNvPr>
          <p:cNvSpPr txBox="1"/>
          <p:nvPr/>
        </p:nvSpPr>
        <p:spPr>
          <a:xfrm>
            <a:off x="762446" y="3882768"/>
            <a:ext cx="3896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lang="de-DE" sz="1600" b="1" dirty="0">
                <a:solidFill>
                  <a:schemeClr val="bg1"/>
                </a:solidFill>
              </a:rPr>
              <a:t>Single‑Point‑</a:t>
            </a:r>
            <a:r>
              <a:rPr lang="de-DE" sz="1600" b="1" dirty="0" err="1">
                <a:solidFill>
                  <a:schemeClr val="bg1"/>
                </a:solidFill>
              </a:rPr>
              <a:t>of</a:t>
            </a:r>
            <a:r>
              <a:rPr lang="de-DE" sz="1600" b="1" dirty="0">
                <a:solidFill>
                  <a:schemeClr val="bg1"/>
                </a:solidFill>
              </a:rPr>
              <a:t>‑</a:t>
            </a:r>
            <a:r>
              <a:rPr lang="de-DE" sz="1600" b="1" dirty="0" err="1">
                <a:solidFill>
                  <a:schemeClr val="bg1"/>
                </a:solidFill>
              </a:rPr>
              <a:t>Accountability</a:t>
            </a:r>
            <a:r>
              <a:rPr lang="de-DE" sz="1600" b="1" dirty="0">
                <a:solidFill>
                  <a:schemeClr val="bg1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1600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96B17-028A-5BD5-5CFF-212920CAF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A724DE30-BD18-4A8F-0C95-81F6555BE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A11625C0-8C4F-DC0E-3339-93E54C932CB7}"/>
              </a:ext>
            </a:extLst>
          </p:cNvPr>
          <p:cNvSpPr txBox="1"/>
          <p:nvPr/>
        </p:nvSpPr>
        <p:spPr>
          <a:xfrm>
            <a:off x="3473523" y="43082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747295B-40C6-997C-6700-D7377A6C3025}"/>
              </a:ext>
            </a:extLst>
          </p:cNvPr>
          <p:cNvSpPr txBox="1"/>
          <p:nvPr/>
        </p:nvSpPr>
        <p:spPr>
          <a:xfrm>
            <a:off x="5450356" y="43082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74D354A-0CA8-3F5E-4376-2FB6417B1D4C}"/>
              </a:ext>
            </a:extLst>
          </p:cNvPr>
          <p:cNvSpPr txBox="1"/>
          <p:nvPr/>
        </p:nvSpPr>
        <p:spPr>
          <a:xfrm>
            <a:off x="7195264" y="43082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13AF41D-02AD-5E1C-FDC8-DB6AA3E34D04}"/>
              </a:ext>
            </a:extLst>
          </p:cNvPr>
          <p:cNvSpPr txBox="1"/>
          <p:nvPr/>
        </p:nvSpPr>
        <p:spPr>
          <a:xfrm>
            <a:off x="8915463" y="43082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21" name="Grafik 20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D2DCB1EF-F4C1-B887-64B2-FC51D53A1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660371" y="507102"/>
            <a:ext cx="331953" cy="216767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FB71AACC-5EBB-EBEE-F6C5-553933AB25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91" y="1562095"/>
            <a:ext cx="2064464" cy="275261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787B0DB-E70B-97B3-B441-839181E908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9827" y="1562095"/>
            <a:ext cx="2302434" cy="298395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6B798E5-6D53-CCAD-B8A7-A73A86281FAC}"/>
              </a:ext>
            </a:extLst>
          </p:cNvPr>
          <p:cNvSpPr txBox="1"/>
          <p:nvPr/>
        </p:nvSpPr>
        <p:spPr>
          <a:xfrm>
            <a:off x="3710815" y="2199490"/>
            <a:ext cx="485337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2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Steigen Sie ein in die Welt der MBO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Sannen des QR-Codes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Browser (Chrome oder Safari)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Menüführung am Handy folgen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03C6B5BE-F3EF-B05D-840D-190DDFCD2401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Privacy Policy I Imprint I Allgemeine Geschäftsbedingungen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FDCAD0F-434A-A2FD-8CCE-9517A2BC7A34}"/>
              </a:ext>
            </a:extLst>
          </p:cNvPr>
          <p:cNvSpPr txBox="1"/>
          <p:nvPr/>
        </p:nvSpPr>
        <p:spPr>
          <a:xfrm>
            <a:off x="2944077" y="4846327"/>
            <a:ext cx="7257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limits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mindset</a:t>
            </a:r>
            <a:endParaRPr lang="de-AT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488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theme/theme1.xml><?xml version="1.0" encoding="utf-8"?>
<a:theme xmlns:a="http://schemas.openxmlformats.org/drawingml/2006/main" name="Master Trinity H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BO_Trinity_GmbH_II_de.potx" id="{366E3630-B22C-4E3D-9747-5BF531C635D7}" vid="{A13D97C2-B7B5-48B2-9998-D663CCBE739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MBO_Trinity_GmbH_II_de</Template>
  <TotalTime>0</TotalTime>
  <Words>283</Words>
  <Application>Microsoft Office PowerPoint</Application>
  <PresentationFormat>Breitbild</PresentationFormat>
  <Paragraphs>54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Master Trinity HP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MBO Services GmbH</dc:creator>
  <cp:lastModifiedBy>Office MBO Services GmbH</cp:lastModifiedBy>
  <cp:revision>21</cp:revision>
  <dcterms:created xsi:type="dcterms:W3CDTF">2025-05-08T11:48:37Z</dcterms:created>
  <dcterms:modified xsi:type="dcterms:W3CDTF">2026-01-14T12:24:17Z</dcterms:modified>
</cp:coreProperties>
</file>