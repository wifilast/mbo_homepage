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45" r:id="rId2"/>
    <p:sldId id="366" r:id="rId3"/>
    <p:sldId id="367" r:id="rId4"/>
    <p:sldId id="368" r:id="rId5"/>
    <p:sldId id="369" r:id="rId6"/>
    <p:sldId id="365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0A172B"/>
    <a:srgbClr val="1A1F30"/>
    <a:srgbClr val="007AFF"/>
    <a:srgbClr val="0D0761"/>
    <a:srgbClr val="030755"/>
    <a:srgbClr val="1525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3047C-664C-4371-9230-C778BB589073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8C9C3-9551-4717-9CB1-D5CC99D644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6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200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4698-AAB1-64CC-5F81-5605B25B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FF1D4D-48F5-4A50-370D-88D8E3EA4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581143-8ABD-7655-0942-A6DCCF9EF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604C12-2E61-A479-3FC2-4412A2ABF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7790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B81B5-55EA-C40F-4FDE-B58BCACE3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0B9EAA2-6C53-605F-5EC3-50EA51307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13AC1D4-2A71-A30D-ABCD-7423342E1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3CD74F-74C3-DA28-C8A1-1BFF95CB3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61460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7E058-233F-BAD2-FDAC-0ECCA29E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42E64DC-7CBE-43A7-E271-7E243CA32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DC72B50-2E10-F3F1-E635-8749254B4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E4C796-4511-A89D-F639-93DBB8537D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06571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2EC47-F3FB-72E4-D43E-50216406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73780F3-9C6A-54C2-3F86-D00845F1E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898B305-C84C-1A80-57D2-4B5C51EA8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FFA0EE-5FAF-BAA1-B7AC-13114EB03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25387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79F5-02BC-9927-610D-E478D267C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AB027E5-EE70-A3FD-9FBE-A491F5FEE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4C25AF-2DD6-8080-2401-145387A01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77870C-B84D-C671-0903-C9F3C61C8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6938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7A2D8C-43A2-5798-8968-5CFD89D1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065316"/>
            <a:ext cx="10795820" cy="53018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8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32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office@mbo-trinity.com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BD2693E-2775-8FFB-F8E8-740252561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0541F8-EA5A-F843-516F-87DD600B2588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FAC60C-43FF-B5B1-B0FF-4B57D13DC741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AE5A00D-F6BF-FB43-484E-20AC764BDC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C47053-32FB-D9EA-11BB-7761DCB8628A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21" name="Grafik 20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FBD8890F-A326-C8EF-4668-C02F7EC5D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E5A39E5C-3A32-E174-E85F-6F8C444AB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23" y="2062246"/>
            <a:ext cx="4853370" cy="1694288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F47B1A59-AA77-880F-57DC-BFB2C6143F12}"/>
              </a:ext>
            </a:extLst>
          </p:cNvPr>
          <p:cNvSpPr txBox="1"/>
          <p:nvPr/>
        </p:nvSpPr>
        <p:spPr>
          <a:xfrm>
            <a:off x="3473523" y="3757442"/>
            <a:ext cx="504916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Partner </a:t>
            </a:r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Technological Excellence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F6A43A6-D01F-34D4-0D43-7BE4D26F7593}"/>
              </a:ext>
            </a:extLst>
          </p:cNvPr>
          <p:cNvCxnSpPr/>
          <p:nvPr/>
        </p:nvCxnSpPr>
        <p:spPr>
          <a:xfrm>
            <a:off x="0" y="1545996"/>
            <a:ext cx="12192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6D45A8B-78E5-AC2E-B26A-CC96E5C3DBF0}"/>
              </a:ext>
            </a:extLst>
          </p:cNvPr>
          <p:cNvCxnSpPr>
            <a:cxnSpLocks/>
          </p:cNvCxnSpPr>
          <p:nvPr/>
        </p:nvCxnSpPr>
        <p:spPr>
          <a:xfrm>
            <a:off x="-97896" y="4658413"/>
            <a:ext cx="1228989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8D0613E0-9B4F-789B-D44A-AFE036ADAD49}"/>
              </a:ext>
            </a:extLst>
          </p:cNvPr>
          <p:cNvSpPr txBox="1"/>
          <p:nvPr/>
        </p:nvSpPr>
        <p:spPr>
          <a:xfrm>
            <a:off x="10302322" y="1578920"/>
            <a:ext cx="17693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 err="1">
                <a:solidFill>
                  <a:srgbClr val="FFFF00"/>
                </a:solidFill>
              </a:rPr>
              <a:t>Blidbereich</a:t>
            </a:r>
            <a:r>
              <a:rPr lang="de-DE" sz="1000" dirty="0">
                <a:solidFill>
                  <a:srgbClr val="FFFF00"/>
                </a:solidFill>
              </a:rPr>
              <a:t> / Fotoserie 4</a:t>
            </a:r>
          </a:p>
        </p:txBody>
      </p:sp>
      <p:sp>
        <p:nvSpPr>
          <p:cNvPr id="36" name="Flussdiagramm: Prozess 35">
            <a:extLst>
              <a:ext uri="{FF2B5EF4-FFF2-40B4-BE49-F238E27FC236}">
                <a16:creationId xmlns:a16="http://schemas.microsoft.com/office/drawing/2014/main" id="{E2836311-1C93-9DBA-87B0-B4513AD8AF34}"/>
              </a:ext>
            </a:extLst>
          </p:cNvPr>
          <p:cNvSpPr/>
          <p:nvPr/>
        </p:nvSpPr>
        <p:spPr>
          <a:xfrm>
            <a:off x="754144" y="2552313"/>
            <a:ext cx="2303818" cy="652014"/>
          </a:xfrm>
          <a:prstGeom prst="flowChartProcess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7101421-7978-8C98-709F-AFA01AA5F359}"/>
              </a:ext>
            </a:extLst>
          </p:cNvPr>
          <p:cNvSpPr txBox="1"/>
          <p:nvPr/>
        </p:nvSpPr>
        <p:spPr>
          <a:xfrm>
            <a:off x="1024036" y="2753637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>
                <a:solidFill>
                  <a:srgbClr val="FFFF00"/>
                </a:solidFill>
              </a:rPr>
              <a:t>Textserie 4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B256F63-C568-C653-D832-C27A5772F550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D4B1D1E-A342-4F5D-CD42-39E20CB6F2ED}"/>
              </a:ext>
            </a:extLst>
          </p:cNvPr>
          <p:cNvSpPr txBox="1"/>
          <p:nvPr/>
        </p:nvSpPr>
        <p:spPr>
          <a:xfrm>
            <a:off x="754144" y="2934813"/>
            <a:ext cx="31081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Gestalte High-Tech-Prozessumgebungen von morgen</a:t>
            </a:r>
          </a:p>
        </p:txBody>
      </p:sp>
    </p:spTree>
    <p:extLst>
      <p:ext uri="{BB962C8B-B14F-4D97-AF65-F5344CB8AC3E}">
        <p14:creationId xmlns:p14="http://schemas.microsoft.com/office/powerpoint/2010/main" val="213709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FC33-B781-7AD5-2500-49FC7AFE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071553AB-0045-7029-4EE3-D74EED37A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AEB33EE7-9CF3-C017-40A4-486D23A966FC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BCA6B56-D235-81BC-076A-61EF7EC89B4E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5BAB4B1-3FC1-5B03-6F4E-E2746E753BA0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BEFC97D-A850-730D-BB1A-CE8A5F3DD31B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2735DD-1C0B-C486-BA37-FD6E3383A871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A6FF9B82-8B9B-F275-502C-6BE9063B0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7C653B40-2815-5798-47C7-1AB84F306A4B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6F6350E-ACAA-A15E-18E5-25FA1C626E0F}"/>
              </a:ext>
            </a:extLst>
          </p:cNvPr>
          <p:cNvSpPr txBox="1"/>
          <p:nvPr/>
        </p:nvSpPr>
        <p:spPr>
          <a:xfrm>
            <a:off x="449128" y="1279760"/>
            <a:ext cx="107076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de-DE" sz="2400" b="1" dirty="0">
                <a:solidFill>
                  <a:schemeClr val="bg1"/>
                </a:solidFill>
              </a:rPr>
              <a:t>Arbeiten bei MBO bedeutet: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de-DE" dirty="0">
                <a:solidFill>
                  <a:schemeClr val="bg1"/>
                </a:solidFill>
              </a:rPr>
              <a:t>Bei MBO Trinity entwickeln, planen und realisieren wir </a:t>
            </a:r>
            <a:r>
              <a:rPr lang="de-DE" b="1" dirty="0">
                <a:solidFill>
                  <a:schemeClr val="bg1"/>
                </a:solidFill>
              </a:rPr>
              <a:t>hochtechnisierte Prozess- und Reinraumumgebungen</a:t>
            </a:r>
            <a:r>
              <a:rPr lang="de-DE" dirty="0">
                <a:solidFill>
                  <a:schemeClr val="bg1"/>
                </a:solidFill>
              </a:rPr>
              <a:t>, in denen </a:t>
            </a:r>
            <a:r>
              <a:rPr lang="de-DE" b="1" dirty="0">
                <a:solidFill>
                  <a:schemeClr val="bg1"/>
                </a:solidFill>
              </a:rPr>
              <a:t>Präzision, Verantwortung und Innovation</a:t>
            </a:r>
            <a:r>
              <a:rPr lang="de-DE" dirty="0">
                <a:solidFill>
                  <a:schemeClr val="bg1"/>
                </a:solidFill>
              </a:rPr>
              <a:t> keine Schlagworte, sondern tägliche Praxis sind.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de-DE" dirty="0">
                <a:solidFill>
                  <a:schemeClr val="bg1"/>
                </a:solidFill>
              </a:rPr>
              <a:t>Unsere Projekte bewegen sich an der </a:t>
            </a:r>
            <a:r>
              <a:rPr lang="de-DE" b="1" dirty="0">
                <a:solidFill>
                  <a:schemeClr val="bg1"/>
                </a:solidFill>
              </a:rPr>
              <a:t>technischen Grenze des Machbaren</a:t>
            </a:r>
            <a:r>
              <a:rPr lang="de-DE" dirty="0">
                <a:solidFill>
                  <a:schemeClr val="bg1"/>
                </a:solidFill>
              </a:rPr>
              <a:t> – in der Halbleiter-, Pharma- und High-Tech-Industrie. Dafür suchen wir Menschen, die </a:t>
            </a:r>
            <a:r>
              <a:rPr lang="de-DE" b="1" dirty="0">
                <a:solidFill>
                  <a:schemeClr val="bg1"/>
                </a:solidFill>
              </a:rPr>
              <a:t>mitdenken, Verantwortung übernehmen und Lösungen schaffen</a:t>
            </a:r>
            <a:r>
              <a:rPr lang="de-DE" dirty="0">
                <a:solidFill>
                  <a:schemeClr val="bg1"/>
                </a:solidFill>
              </a:rPr>
              <a:t>, wo andere nur Anforderungen sehen.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715E96B-940D-4EA2-6AA5-6A83291654F2}"/>
              </a:ext>
            </a:extLst>
          </p:cNvPr>
          <p:cNvSpPr txBox="1"/>
          <p:nvPr/>
        </p:nvSpPr>
        <p:spPr>
          <a:xfrm>
            <a:off x="449128" y="3500623"/>
            <a:ext cx="1070767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de-DE" sz="2400" b="1" dirty="0">
                <a:solidFill>
                  <a:schemeClr val="bg1"/>
                </a:solidFill>
              </a:rPr>
              <a:t>Warum MBO?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chemeClr val="bg1"/>
                </a:solidFill>
              </a:rPr>
              <a:t>Anspruchsvolle Projekte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lang="de-DE" dirty="0">
                <a:solidFill>
                  <a:schemeClr val="bg1"/>
                </a:solidFill>
              </a:rPr>
              <a:t>Du arbeitest an realen High-Tech-Anlagen, nicht an theoretischen Projekten: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de-DE" altLang="de-DE" dirty="0">
                <a:solidFill>
                  <a:schemeClr val="bg1"/>
                </a:solidFill>
                <a:latin typeface="Arial" panose="020B0604020202020204" pitchFamily="34" charset="0"/>
              </a:rPr>
              <a:t>Reinräume nach </a:t>
            </a:r>
            <a:r>
              <a:rPr lang="de-DE" altLang="de-DE" b="1" dirty="0">
                <a:solidFill>
                  <a:schemeClr val="bg1"/>
                </a:solidFill>
                <a:latin typeface="Arial" panose="020B0604020202020204" pitchFamily="34" charset="0"/>
              </a:rPr>
              <a:t>ISO 14644</a:t>
            </a:r>
            <a:endParaRPr lang="de-DE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de-DE" altLang="de-DE" dirty="0">
                <a:solidFill>
                  <a:schemeClr val="bg1"/>
                </a:solidFill>
                <a:latin typeface="Arial" panose="020B0604020202020204" pitchFamily="34" charset="0"/>
              </a:rPr>
              <a:t>Präzisions-Klima- und Prozessstabilitätssysteme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de-DE" altLang="de-DE" dirty="0">
                <a:solidFill>
                  <a:schemeClr val="bg1"/>
                </a:solidFill>
                <a:latin typeface="Arial" panose="020B0604020202020204" pitchFamily="34" charset="0"/>
              </a:rPr>
              <a:t>Schnittstellen zu </a:t>
            </a:r>
            <a:r>
              <a:rPr lang="de-DE" altLang="de-DE" b="1" dirty="0">
                <a:solidFill>
                  <a:schemeClr val="bg1"/>
                </a:solidFill>
                <a:latin typeface="Arial" panose="020B0604020202020204" pitchFamily="34" charset="0"/>
              </a:rPr>
              <a:t>hoch­sensiblen Produktions-Tools</a:t>
            </a:r>
            <a:endParaRPr lang="de-DE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de-DE" altLang="de-DE" dirty="0">
                <a:solidFill>
                  <a:schemeClr val="bg1"/>
                </a:solidFill>
                <a:latin typeface="Arial" panose="020B0604020202020204" pitchFamily="34" charset="0"/>
              </a:rPr>
              <a:t>Projekte mit international führenden Industrie- und Technologieunternehmen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de-DE" dirty="0">
              <a:solidFill>
                <a:schemeClr val="bg1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05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DD7D8-B6DA-3E18-0B73-D0599ADEB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402FEFED-DEA9-F37C-0CEA-3AE52DD07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3AE3276C-C7F5-2B6B-9392-D24AD007E1FC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691A11D-4D89-70B7-347D-89469733BE7B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D189DFA-7DF0-6E5C-FC19-ADF1B977E40B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A065C24-7F0B-3762-E4CB-09A5E326BC59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D876AB1-B8BF-900D-2E96-E7475EBFD6FB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3F01B689-75D4-B79A-5FA4-4592879BD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93973F96-73A8-B1E1-9F36-7E1DD4E07AC8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4E17FDA-2EED-EF21-7F12-3ACCBF22C29D}"/>
              </a:ext>
            </a:extLst>
          </p:cNvPr>
          <p:cNvSpPr txBox="1"/>
          <p:nvPr/>
        </p:nvSpPr>
        <p:spPr>
          <a:xfrm>
            <a:off x="554133" y="1110349"/>
            <a:ext cx="1070767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de-DE" sz="2400" b="1" dirty="0">
                <a:solidFill>
                  <a:schemeClr val="bg1"/>
                </a:solidFill>
              </a:rPr>
              <a:t>Verantwortung &amp; Vertrauen</a:t>
            </a:r>
          </a:p>
          <a:p>
            <a:pPr marL="742950" lvl="1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DE" altLang="de-DE" dirty="0">
                <a:solidFill>
                  <a:schemeClr val="bg1"/>
                </a:solidFill>
                <a:latin typeface="Arial" panose="020B0604020202020204" pitchFamily="34" charset="0"/>
              </a:rPr>
              <a:t>Kurze Entscheidungswege</a:t>
            </a:r>
          </a:p>
          <a:p>
            <a:pPr marL="742950" lvl="1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DE" altLang="de-DE" dirty="0">
                <a:solidFill>
                  <a:schemeClr val="bg1"/>
                </a:solidFill>
                <a:latin typeface="Arial" panose="020B0604020202020204" pitchFamily="34" charset="0"/>
              </a:rPr>
              <a:t>Direkter Kontakt zu Projektleitung und Geschäftsführung</a:t>
            </a:r>
          </a:p>
          <a:p>
            <a:pPr marL="742950" lvl="1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DE" altLang="de-DE" dirty="0">
                <a:solidFill>
                  <a:schemeClr val="bg1"/>
                </a:solidFill>
                <a:latin typeface="Arial" panose="020B0604020202020204" pitchFamily="34" charset="0"/>
              </a:rPr>
              <a:t>Eigenverantwortung ab dem ersten Tag</a:t>
            </a:r>
          </a:p>
          <a:p>
            <a:pPr marL="742950" lvl="1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DE" altLang="de-DE" dirty="0">
                <a:solidFill>
                  <a:schemeClr val="bg1"/>
                </a:solidFill>
                <a:latin typeface="Arial" panose="020B0604020202020204" pitchFamily="34" charset="0"/>
              </a:rPr>
              <a:t>Vertrauen statt Mikromanagement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21229F5-32D4-C5A7-6AAF-C000F00E8AA2}"/>
              </a:ext>
            </a:extLst>
          </p:cNvPr>
          <p:cNvSpPr txBox="1"/>
          <p:nvPr/>
        </p:nvSpPr>
        <p:spPr>
          <a:xfrm>
            <a:off x="554133" y="3429000"/>
            <a:ext cx="1070767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de-DE" sz="2400" b="1" dirty="0">
                <a:solidFill>
                  <a:schemeClr val="bg1"/>
                </a:solidFill>
              </a:rPr>
              <a:t>Technik mit Substanz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de-DE" dirty="0">
                <a:solidFill>
                  <a:schemeClr val="bg1"/>
                </a:solidFill>
              </a:rPr>
              <a:t>Wir stehen für: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DE" b="1" dirty="0">
                <a:solidFill>
                  <a:schemeClr val="bg1"/>
                </a:solidFill>
              </a:rPr>
              <a:t>saubere Planung</a:t>
            </a:r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DE" b="1" dirty="0">
                <a:solidFill>
                  <a:schemeClr val="bg1"/>
                </a:solidFill>
              </a:rPr>
              <a:t>nachvollziehbare Lösungen</a:t>
            </a:r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DE" b="1" dirty="0">
                <a:solidFill>
                  <a:schemeClr val="bg1"/>
                </a:solidFill>
              </a:rPr>
              <a:t>technische Exzellenz statt Kompromisse</a:t>
            </a:r>
            <a:endParaRPr lang="de-DE" dirty="0">
              <a:solidFill>
                <a:schemeClr val="bg1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de-DE" dirty="0">
                <a:solidFill>
                  <a:schemeClr val="bg1"/>
                </a:solidFill>
              </a:rPr>
              <a:t>Bei uns zählen </a:t>
            </a:r>
            <a:r>
              <a:rPr lang="de-DE" b="1" dirty="0">
                <a:solidFill>
                  <a:schemeClr val="bg1"/>
                </a:solidFill>
              </a:rPr>
              <a:t>Fakten, Normen und Funktion</a:t>
            </a:r>
            <a:r>
              <a:rPr lang="de-DE" dirty="0">
                <a:solidFill>
                  <a:schemeClr val="bg1"/>
                </a:solidFill>
              </a:rPr>
              <a:t> – nicht Buzzwords.</a:t>
            </a: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de-DE" altLang="de-DE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602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2442-9782-FF73-EA7F-EF0F19C4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B944C78-88D1-0FCC-C4D2-F455C53B3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3DF3B31C-A9E9-6372-5218-349B486F0F04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CB871E6-CFDB-B9B9-3BC1-42F054D2E58A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7513C40-127C-F2C0-514B-65F5F9DE0E2E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06A46DE-AB6D-54F5-6D28-E08AA129C009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EC8B164-1398-9339-CCD5-E72EA9389218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F0581F15-7CED-4D72-39EC-CF4AAC625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57E9188-21FB-7B6A-2130-74887B85E336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F5C42C0-6340-392B-CB6F-F9FA128262E8}"/>
              </a:ext>
            </a:extLst>
          </p:cNvPr>
          <p:cNvSpPr txBox="1"/>
          <p:nvPr/>
        </p:nvSpPr>
        <p:spPr>
          <a:xfrm>
            <a:off x="578048" y="854405"/>
            <a:ext cx="107076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DE" sz="2400" b="1" dirty="0">
                <a:solidFill>
                  <a:schemeClr val="bg1"/>
                </a:solidFill>
              </a:rPr>
              <a:t>Wen wir suchen</a:t>
            </a:r>
          </a:p>
          <a:p>
            <a:pPr lvl="1">
              <a:spcBef>
                <a:spcPts val="600"/>
              </a:spcBef>
            </a:pPr>
            <a:r>
              <a:rPr lang="de-DE" dirty="0">
                <a:solidFill>
                  <a:schemeClr val="bg1"/>
                </a:solidFill>
              </a:rPr>
              <a:t>Wir suchen </a:t>
            </a:r>
            <a:r>
              <a:rPr lang="de-DE" dirty="0" err="1">
                <a:solidFill>
                  <a:schemeClr val="bg1"/>
                </a:solidFill>
              </a:rPr>
              <a:t>Techniker:innen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Ingenieur:innen</a:t>
            </a:r>
            <a:r>
              <a:rPr lang="de-DE" dirty="0">
                <a:solidFill>
                  <a:schemeClr val="bg1"/>
                </a:solidFill>
              </a:rPr>
              <a:t> und Projektprofis, die: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bg1"/>
                </a:solidFill>
              </a:rPr>
              <a:t>strukturiert arbeiten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bg1"/>
                </a:solidFill>
              </a:rPr>
              <a:t>Verantwortung übernehmen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bg1"/>
                </a:solidFill>
              </a:rPr>
              <a:t>technische Zusammenhänge verstehen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bg1"/>
                </a:solidFill>
              </a:rPr>
              <a:t>gerne im Team komplexe Aufgaben lösen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51AE9D9-2702-FEA9-A43C-9822F5950D13}"/>
              </a:ext>
            </a:extLst>
          </p:cNvPr>
          <p:cNvSpPr txBox="1"/>
          <p:nvPr/>
        </p:nvSpPr>
        <p:spPr>
          <a:xfrm>
            <a:off x="578048" y="3411632"/>
            <a:ext cx="10707676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de-DE" sz="2400" b="1" dirty="0">
                <a:solidFill>
                  <a:schemeClr val="bg1"/>
                </a:solidFill>
              </a:rPr>
              <a:t>Typische Profile bei MBO: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dirty="0" err="1">
                <a:solidFill>
                  <a:schemeClr val="bg1"/>
                </a:solidFill>
              </a:rPr>
              <a:t>Projektleiter:innen</a:t>
            </a:r>
            <a:r>
              <a:rPr lang="de-DE" dirty="0">
                <a:solidFill>
                  <a:schemeClr val="bg1"/>
                </a:solidFill>
              </a:rPr>
              <a:t> (TGA / Reinraum / Anlagenbau)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bg1"/>
                </a:solidFill>
              </a:rPr>
              <a:t>HKLS- / </a:t>
            </a:r>
            <a:r>
              <a:rPr lang="de-DE" dirty="0" err="1">
                <a:solidFill>
                  <a:schemeClr val="bg1"/>
                </a:solidFill>
              </a:rPr>
              <a:t>HVAC-Ingenieur:innen</a:t>
            </a:r>
            <a:endParaRPr lang="de-DE" dirty="0">
              <a:solidFill>
                <a:schemeClr val="bg1"/>
              </a:solidFill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bg1"/>
                </a:solidFill>
              </a:rPr>
              <a:t>Automatisierungs- &amp; </a:t>
            </a:r>
            <a:r>
              <a:rPr lang="de-DE" dirty="0" err="1">
                <a:solidFill>
                  <a:schemeClr val="bg1"/>
                </a:solidFill>
              </a:rPr>
              <a:t>Regelungstechniker:innen</a:t>
            </a:r>
            <a:endParaRPr lang="de-DE" dirty="0">
              <a:solidFill>
                <a:schemeClr val="bg1"/>
              </a:solidFill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dirty="0" err="1">
                <a:solidFill>
                  <a:schemeClr val="bg1"/>
                </a:solidFill>
              </a:rPr>
              <a:t>Konstrukteur:innen</a:t>
            </a:r>
            <a:r>
              <a:rPr lang="de-DE" dirty="0">
                <a:solidFill>
                  <a:schemeClr val="bg1"/>
                </a:solidFill>
              </a:rPr>
              <a:t> / </a:t>
            </a:r>
            <a:r>
              <a:rPr lang="de-DE" dirty="0" err="1">
                <a:solidFill>
                  <a:schemeClr val="bg1"/>
                </a:solidFill>
              </a:rPr>
              <a:t>Planer:innen</a:t>
            </a:r>
            <a:endParaRPr lang="de-DE" dirty="0">
              <a:solidFill>
                <a:schemeClr val="bg1"/>
              </a:solidFill>
            </a:endParaRP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bg1"/>
                </a:solidFill>
              </a:rPr>
              <a:t>Service- &amp; </a:t>
            </a:r>
            <a:r>
              <a:rPr lang="de-DE" dirty="0" err="1">
                <a:solidFill>
                  <a:schemeClr val="bg1"/>
                </a:solidFill>
              </a:rPr>
              <a:t>Inbetriebnahme-Techniker:innen</a:t>
            </a:r>
            <a:endParaRPr lang="de-DE" dirty="0">
              <a:solidFill>
                <a:schemeClr val="bg1"/>
              </a:solidFill>
            </a:endParaRPr>
          </a:p>
          <a:p>
            <a:pPr lvl="1">
              <a:spcBef>
                <a:spcPts val="600"/>
              </a:spcBef>
            </a:pPr>
            <a:r>
              <a:rPr lang="de-DE" i="1" dirty="0">
                <a:solidFill>
                  <a:schemeClr val="bg1"/>
                </a:solidFill>
              </a:rPr>
              <a:t>(auch engagierte </a:t>
            </a:r>
            <a:r>
              <a:rPr lang="de-DE" i="1" dirty="0" err="1">
                <a:solidFill>
                  <a:schemeClr val="bg1"/>
                </a:solidFill>
              </a:rPr>
              <a:t>Einsteiger:innen</a:t>
            </a:r>
            <a:r>
              <a:rPr lang="de-DE" i="1" dirty="0">
                <a:solidFill>
                  <a:schemeClr val="bg1"/>
                </a:solidFill>
              </a:rPr>
              <a:t> und erfahrene Spezialisten willkommen)</a:t>
            </a:r>
            <a:endParaRPr lang="de-DE" dirty="0">
              <a:solidFill>
                <a:schemeClr val="bg1"/>
              </a:solidFill>
            </a:endParaRPr>
          </a:p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de-DE" altLang="de-DE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78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70F21-8796-AC5B-530D-044DAA80D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49D3E25F-319A-E5B4-C49F-FAAC1C2A2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D9F72A2-BADF-E13D-E10B-3C8666420A43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88B06A-E1E5-DE3E-7E74-7BF28C6CFA87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620CD2B-5FAA-C8E5-D892-69F2D7D455FA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E9A71FD-7497-6DF7-442B-3608B7EFF366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CC1970E-FAD7-1901-D466-3C162F677F0E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FC8FBCDD-EEC9-71F6-29FD-23459F4A0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105B89EA-F902-4B62-54A5-F2383CF7CB6A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EA29D6B-29A2-9D25-4FA6-CBD9B8F1C3DA}"/>
              </a:ext>
            </a:extLst>
          </p:cNvPr>
          <p:cNvSpPr txBox="1"/>
          <p:nvPr/>
        </p:nvSpPr>
        <p:spPr>
          <a:xfrm>
            <a:off x="691603" y="1078994"/>
            <a:ext cx="1070767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DE" sz="2400" b="1" dirty="0">
                <a:solidFill>
                  <a:schemeClr val="bg1"/>
                </a:solidFill>
              </a:rPr>
              <a:t>Was wir bieten</a:t>
            </a:r>
          </a:p>
          <a:p>
            <a:pPr marL="742950" lvl="1" indent="-285750" eaLnBrk="0" fontAlgn="base" hangingPunct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altLang="de-DE" b="1" dirty="0">
                <a:solidFill>
                  <a:schemeClr val="bg1"/>
                </a:solidFill>
              </a:rPr>
              <a:t>Technisch anspruchsvolle Aufgaben</a:t>
            </a:r>
            <a:r>
              <a:rPr lang="de-DE" altLang="de-DE" dirty="0">
                <a:solidFill>
                  <a:schemeClr val="bg1"/>
                </a:solidFill>
              </a:rPr>
              <a:t> mit echter Relevanz</a:t>
            </a:r>
          </a:p>
          <a:p>
            <a:pPr marL="742950" lvl="1" indent="-285750" eaLnBrk="0" fontAlgn="base" hangingPunct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altLang="de-DE" b="1" dirty="0">
                <a:solidFill>
                  <a:schemeClr val="bg1"/>
                </a:solidFill>
              </a:rPr>
              <a:t>Moderne Arbeitsmittel</a:t>
            </a:r>
            <a:r>
              <a:rPr lang="de-DE" altLang="de-DE" dirty="0">
                <a:solidFill>
                  <a:schemeClr val="bg1"/>
                </a:solidFill>
              </a:rPr>
              <a:t> &amp; professionelle Projektstrukturen</a:t>
            </a:r>
          </a:p>
          <a:p>
            <a:pPr marL="742950" lvl="1" indent="-285750" eaLnBrk="0" fontAlgn="base" hangingPunct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altLang="de-DE" b="1" dirty="0">
                <a:solidFill>
                  <a:schemeClr val="bg1"/>
                </a:solidFill>
              </a:rPr>
              <a:t>Faire, leistungsgerechte Vergütung</a:t>
            </a:r>
            <a:endParaRPr lang="de-DE" altLang="de-DE" dirty="0">
              <a:solidFill>
                <a:schemeClr val="bg1"/>
              </a:solidFill>
            </a:endParaRPr>
          </a:p>
          <a:p>
            <a:pPr marL="742950" lvl="1" indent="-285750" eaLnBrk="0" fontAlgn="base" hangingPunct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altLang="de-DE" b="1" dirty="0">
                <a:solidFill>
                  <a:schemeClr val="bg1"/>
                </a:solidFill>
              </a:rPr>
              <a:t>Flexible Arbeitsmodelle</a:t>
            </a:r>
            <a:r>
              <a:rPr lang="de-DE" altLang="de-DE" dirty="0">
                <a:solidFill>
                  <a:schemeClr val="bg1"/>
                </a:solidFill>
              </a:rPr>
              <a:t> je nach Rolle &amp; Projekt</a:t>
            </a:r>
          </a:p>
          <a:p>
            <a:pPr marL="742950" lvl="1" indent="-285750" eaLnBrk="0" fontAlgn="base" hangingPunct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altLang="de-DE" b="1" dirty="0">
                <a:solidFill>
                  <a:schemeClr val="bg1"/>
                </a:solidFill>
              </a:rPr>
              <a:t>Weiterbildung</a:t>
            </a:r>
            <a:r>
              <a:rPr lang="de-DE" altLang="de-DE" dirty="0">
                <a:solidFill>
                  <a:schemeClr val="bg1"/>
                </a:solidFill>
              </a:rPr>
              <a:t> im High-Tech-Umfeld</a:t>
            </a:r>
          </a:p>
          <a:p>
            <a:pPr marL="742950" lvl="1" indent="-285750" eaLnBrk="0" fontAlgn="base" hangingPunct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de-DE" altLang="de-DE" dirty="0">
                <a:solidFill>
                  <a:schemeClr val="bg1"/>
                </a:solidFill>
              </a:rPr>
              <a:t>Ein </a:t>
            </a:r>
            <a:r>
              <a:rPr lang="de-DE" altLang="de-DE" b="1" dirty="0">
                <a:solidFill>
                  <a:schemeClr val="bg1"/>
                </a:solidFill>
              </a:rPr>
              <a:t>kollegiales, kompetentes Team</a:t>
            </a:r>
            <a:r>
              <a:rPr lang="de-DE" altLang="de-DE" dirty="0">
                <a:solidFill>
                  <a:schemeClr val="bg1"/>
                </a:solidFill>
              </a:rPr>
              <a:t>, das zusammenhält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C6EE121-854F-0633-EDCB-27F975FE9AC9}"/>
              </a:ext>
            </a:extLst>
          </p:cNvPr>
          <p:cNvSpPr txBox="1"/>
          <p:nvPr/>
        </p:nvSpPr>
        <p:spPr>
          <a:xfrm>
            <a:off x="691603" y="4095204"/>
            <a:ext cx="1080879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DE" sz="2400" b="1" dirty="0">
                <a:solidFill>
                  <a:schemeClr val="bg1"/>
                </a:solidFill>
              </a:rPr>
              <a:t>Jetzt Teil der MBO werden</a:t>
            </a:r>
          </a:p>
          <a:p>
            <a:pPr lvl="1" eaLnBrk="0" fontAlgn="base" hangingPunct="0">
              <a:spcBef>
                <a:spcPts val="600"/>
              </a:spcBef>
            </a:pPr>
            <a:r>
              <a:rPr lang="de-DE" dirty="0">
                <a:solidFill>
                  <a:schemeClr val="bg1"/>
                </a:solidFill>
              </a:rPr>
              <a:t>Du möchtest an High-End-Technologieprojekten mitarbeiten und suchst ein Umfeld, in dem Know-how zählt?</a:t>
            </a:r>
            <a:endParaRPr lang="de-DE" altLang="de-DE" dirty="0">
              <a:solidFill>
                <a:schemeClr val="bg1"/>
              </a:solidFill>
            </a:endParaRPr>
          </a:p>
          <a:p>
            <a:pPr lvl="1">
              <a:spcBef>
                <a:spcPts val="600"/>
              </a:spcBef>
            </a:pPr>
            <a:r>
              <a:rPr lang="de-DE" b="1" dirty="0">
                <a:solidFill>
                  <a:schemeClr val="bg1"/>
                </a:solidFill>
              </a:rPr>
              <a:t>	Sende uns deine Bewerbung oder nimm unkompliziert Kontakt auf - </a:t>
            </a:r>
            <a:r>
              <a:rPr lang="de-DE" dirty="0">
                <a:solidFill>
                  <a:schemeClr val="bg1"/>
                </a:solidFill>
              </a:rPr>
              <a:t>Gerne auch initiativ.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6B1826-72D2-EEA7-E5D3-DD9AF90EF2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460" y="4991051"/>
            <a:ext cx="31432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89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5772-55D3-0AB9-A032-42FF6AEB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A2363B8-1F2A-30AC-D149-9180C8509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C6DBBA95-4A0C-6AF2-E26D-3BBC3531B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2" y="1642282"/>
            <a:ext cx="2064464" cy="27526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C30C996-0566-54A1-77B1-308D06E76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1328" y="1642282"/>
            <a:ext cx="2302434" cy="298395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C7F06F7-0FAF-3B20-4116-6C3DC9A420C9}"/>
              </a:ext>
            </a:extLst>
          </p:cNvPr>
          <p:cNvSpPr txBox="1"/>
          <p:nvPr/>
        </p:nvSpPr>
        <p:spPr>
          <a:xfrm>
            <a:off x="3783530" y="2240738"/>
            <a:ext cx="48533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Steigen Sie ein in die Welt der MBO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Sannen des QR-Codes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 (Chrome oder Safari)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Menüführung am Handy folgen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9CE68CD-8814-3694-1779-5E45C635F18B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C89CC3A-E305-2789-9BED-047DADF0F127}"/>
              </a:ext>
            </a:extLst>
          </p:cNvPr>
          <p:cNvSpPr txBox="1"/>
          <p:nvPr/>
        </p:nvSpPr>
        <p:spPr>
          <a:xfrm>
            <a:off x="3015578" y="4926514"/>
            <a:ext cx="7257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mindset</a:t>
            </a:r>
            <a:endParaRPr lang="de-AT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C9DA3B6-B141-2126-51DE-74E0F51F9D0F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61F108-4F0C-379F-FFCC-6AC54435F78C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8D058F2-5D4A-A82E-7193-5813D6DAA9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D1855C3-3147-791B-6DC3-E3968516D77D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BE62835C-3395-86AD-449B-2B0BBDF382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6316E77E-4491-1E66-26EF-126607154375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</p:spTree>
    <p:extLst>
      <p:ext uri="{BB962C8B-B14F-4D97-AF65-F5344CB8AC3E}">
        <p14:creationId xmlns:p14="http://schemas.microsoft.com/office/powerpoint/2010/main" val="414743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Master Trinity 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O_Trinity_GmbH_II_de.potx" id="{366E3630-B22C-4E3D-9747-5BF531C635D7}" vid="{A13D97C2-B7B5-48B2-9998-D663CCBE739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MBO_Trinity_GmbH_II_de</Template>
  <TotalTime>0</TotalTime>
  <Words>530</Words>
  <Application>Microsoft Office PowerPoint</Application>
  <PresentationFormat>Breitbild</PresentationFormat>
  <Paragraphs>94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Master Trinity HP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MBO Services GmbH</dc:creator>
  <cp:lastModifiedBy>Office MBO Services GmbH</cp:lastModifiedBy>
  <cp:revision>34</cp:revision>
  <dcterms:created xsi:type="dcterms:W3CDTF">2025-05-08T11:48:37Z</dcterms:created>
  <dcterms:modified xsi:type="dcterms:W3CDTF">2026-01-13T12:21:09Z</dcterms:modified>
</cp:coreProperties>
</file>