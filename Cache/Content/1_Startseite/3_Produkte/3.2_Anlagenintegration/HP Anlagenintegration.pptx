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45" r:id="rId2"/>
    <p:sldId id="366" r:id="rId3"/>
    <p:sldId id="364" r:id="rId4"/>
    <p:sldId id="365"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82F6"/>
    <a:srgbClr val="0A172B"/>
    <a:srgbClr val="1A1F30"/>
    <a:srgbClr val="007AFF"/>
    <a:srgbClr val="0D0761"/>
    <a:srgbClr val="030755"/>
    <a:srgbClr val="15254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94660"/>
  </p:normalViewPr>
  <p:slideViewPr>
    <p:cSldViewPr snapToGrid="0">
      <p:cViewPr varScale="1">
        <p:scale>
          <a:sx n="119" d="100"/>
          <a:sy n="119" d="100"/>
        </p:scale>
        <p:origin x="138"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D3047C-664C-4371-9230-C778BB589073}" type="datetimeFigureOut">
              <a:rPr lang="de-DE" smtClean="0"/>
              <a:t>13.01.2026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98C9C3-9551-4717-9CB1-D5CC99D644B2}" type="slidenum">
              <a:rPr lang="de-DE" smtClean="0"/>
              <a:t>‹Nr.›</a:t>
            </a:fld>
            <a:endParaRPr lang="de-DE"/>
          </a:p>
        </p:txBody>
      </p:sp>
    </p:spTree>
    <p:extLst>
      <p:ext uri="{BB962C8B-B14F-4D97-AF65-F5344CB8AC3E}">
        <p14:creationId xmlns:p14="http://schemas.microsoft.com/office/powerpoint/2010/main" val="2311695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3F30F9E1-245E-4893-B3E9-8F2E9E2D073F}" type="slidenum">
              <a:rPr lang="de-AT" smtClean="0"/>
              <a:t>1</a:t>
            </a:fld>
            <a:endParaRPr lang="de-AT"/>
          </a:p>
        </p:txBody>
      </p:sp>
    </p:spTree>
    <p:extLst>
      <p:ext uri="{BB962C8B-B14F-4D97-AF65-F5344CB8AC3E}">
        <p14:creationId xmlns:p14="http://schemas.microsoft.com/office/powerpoint/2010/main" val="2132003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E4698-AAB1-64CC-5F81-5605B25B8AA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AFF1D4D-48F5-4A50-370D-88D8E3EA4F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4581143-8ABD-7655-0942-A6DCCF9EFF71}"/>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F6604C12-2E61-A479-3FC2-4412A2ABF221}"/>
              </a:ext>
            </a:extLst>
          </p:cNvPr>
          <p:cNvSpPr>
            <a:spLocks noGrp="1"/>
          </p:cNvSpPr>
          <p:nvPr>
            <p:ph type="sldNum" sz="quarter" idx="10"/>
          </p:nvPr>
        </p:nvSpPr>
        <p:spPr/>
        <p:txBody>
          <a:bodyPr/>
          <a:lstStyle/>
          <a:p>
            <a:fld id="{3F30F9E1-245E-4893-B3E9-8F2E9E2D073F}" type="slidenum">
              <a:rPr lang="de-AT" smtClean="0"/>
              <a:t>2</a:t>
            </a:fld>
            <a:endParaRPr lang="de-AT"/>
          </a:p>
        </p:txBody>
      </p:sp>
    </p:spTree>
    <p:extLst>
      <p:ext uri="{BB962C8B-B14F-4D97-AF65-F5344CB8AC3E}">
        <p14:creationId xmlns:p14="http://schemas.microsoft.com/office/powerpoint/2010/main" val="987790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20F54-A560-FB41-2CF7-30334C03C81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709B171-472C-4F07-907B-C0FF0F0DC9B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7A7F202-43C5-FFE9-61FB-91D68F9EC5DB}"/>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CA801E8C-900F-E472-5D23-7DE04D7F5105}"/>
              </a:ext>
            </a:extLst>
          </p:cNvPr>
          <p:cNvSpPr>
            <a:spLocks noGrp="1"/>
          </p:cNvSpPr>
          <p:nvPr>
            <p:ph type="sldNum" sz="quarter" idx="10"/>
          </p:nvPr>
        </p:nvSpPr>
        <p:spPr/>
        <p:txBody>
          <a:bodyPr/>
          <a:lstStyle/>
          <a:p>
            <a:fld id="{3F30F9E1-245E-4893-B3E9-8F2E9E2D073F}" type="slidenum">
              <a:rPr lang="de-AT" smtClean="0"/>
              <a:t>3</a:t>
            </a:fld>
            <a:endParaRPr lang="de-AT"/>
          </a:p>
        </p:txBody>
      </p:sp>
    </p:spTree>
    <p:extLst>
      <p:ext uri="{BB962C8B-B14F-4D97-AF65-F5344CB8AC3E}">
        <p14:creationId xmlns:p14="http://schemas.microsoft.com/office/powerpoint/2010/main" val="1234242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079F5-02BC-9927-610D-E478D267CD4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AB027E5-EE70-A3FD-9FBE-A491F5FEEC6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04C25AF-2DD6-8080-2401-145387A01D98}"/>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CB77870C-B84D-C671-0903-C9F3C61C8DDD}"/>
              </a:ext>
            </a:extLst>
          </p:cNvPr>
          <p:cNvSpPr>
            <a:spLocks noGrp="1"/>
          </p:cNvSpPr>
          <p:nvPr>
            <p:ph type="sldNum" sz="quarter" idx="10"/>
          </p:nvPr>
        </p:nvSpPr>
        <p:spPr/>
        <p:txBody>
          <a:bodyPr/>
          <a:lstStyle/>
          <a:p>
            <a:fld id="{3F30F9E1-245E-4893-B3E9-8F2E9E2D073F}" type="slidenum">
              <a:rPr lang="de-AT" smtClean="0"/>
              <a:t>4</a:t>
            </a:fld>
            <a:endParaRPr lang="de-AT"/>
          </a:p>
        </p:txBody>
      </p:sp>
    </p:spTree>
    <p:extLst>
      <p:ext uri="{BB962C8B-B14F-4D97-AF65-F5344CB8AC3E}">
        <p14:creationId xmlns:p14="http://schemas.microsoft.com/office/powerpoint/2010/main" val="1976938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DE7A2D8C-43A2-5798-8968-5CFD89D1A091}"/>
              </a:ext>
            </a:extLst>
          </p:cNvPr>
          <p:cNvSpPr>
            <a:spLocks noGrp="1"/>
          </p:cNvSpPr>
          <p:nvPr>
            <p:ph idx="1"/>
          </p:nvPr>
        </p:nvSpPr>
        <p:spPr>
          <a:xfrm>
            <a:off x="698090" y="1065316"/>
            <a:ext cx="10795820" cy="5301892"/>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637873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323675"/>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mailto:office@mbo-trinity.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mailto:office@mbo-trinity.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mailto:office@mbo-trinity.com" TargetMode="External"/><Relationship Id="rId5"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6BD2693E-2775-8FFB-F8E8-740252561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28" y="376567"/>
            <a:ext cx="1368789" cy="477838"/>
          </a:xfrm>
          <a:prstGeom prst="rect">
            <a:avLst/>
          </a:prstGeom>
        </p:spPr>
      </p:pic>
      <p:sp>
        <p:nvSpPr>
          <p:cNvPr id="7" name="Textfeld 6">
            <a:extLst>
              <a:ext uri="{FF2B5EF4-FFF2-40B4-BE49-F238E27FC236}">
                <a16:creationId xmlns:a16="http://schemas.microsoft.com/office/drawing/2014/main" id="{CF0541F8-EA5A-F843-516F-87DD600B2588}"/>
              </a:ext>
            </a:extLst>
          </p:cNvPr>
          <p:cNvSpPr txBox="1"/>
          <p:nvPr/>
        </p:nvSpPr>
        <p:spPr>
          <a:xfrm>
            <a:off x="4428710"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Unternehmen</a:t>
            </a:r>
          </a:p>
        </p:txBody>
      </p:sp>
      <p:sp>
        <p:nvSpPr>
          <p:cNvPr id="8" name="Textfeld 7">
            <a:extLst>
              <a:ext uri="{FF2B5EF4-FFF2-40B4-BE49-F238E27FC236}">
                <a16:creationId xmlns:a16="http://schemas.microsoft.com/office/drawing/2014/main" id="{42FAC60C-43FF-B5B1-B0FF-4B57D13DC741}"/>
              </a:ext>
            </a:extLst>
          </p:cNvPr>
          <p:cNvSpPr txBox="1"/>
          <p:nvPr/>
        </p:nvSpPr>
        <p:spPr>
          <a:xfrm>
            <a:off x="6146735"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Produkte</a:t>
            </a:r>
          </a:p>
        </p:txBody>
      </p:sp>
      <p:sp>
        <p:nvSpPr>
          <p:cNvPr id="9" name="Textfeld 8">
            <a:extLst>
              <a:ext uri="{FF2B5EF4-FFF2-40B4-BE49-F238E27FC236}">
                <a16:creationId xmlns:a16="http://schemas.microsoft.com/office/drawing/2014/main" id="{0AE5A00D-F6BF-FB43-484E-20AC764BDCCC}"/>
              </a:ext>
            </a:extLst>
          </p:cNvPr>
          <p:cNvSpPr txBox="1"/>
          <p:nvPr/>
        </p:nvSpPr>
        <p:spPr>
          <a:xfrm>
            <a:off x="7429877" y="44106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Karriere</a:t>
            </a:r>
          </a:p>
        </p:txBody>
      </p:sp>
      <p:sp>
        <p:nvSpPr>
          <p:cNvPr id="12" name="Textfeld 11">
            <a:extLst>
              <a:ext uri="{FF2B5EF4-FFF2-40B4-BE49-F238E27FC236}">
                <a16:creationId xmlns:a16="http://schemas.microsoft.com/office/drawing/2014/main" id="{E8C47053-32FB-D9EA-11BB-7761DCB8628A}"/>
              </a:ext>
            </a:extLst>
          </p:cNvPr>
          <p:cNvSpPr txBox="1"/>
          <p:nvPr/>
        </p:nvSpPr>
        <p:spPr>
          <a:xfrm>
            <a:off x="8586862" y="45155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Kontakt</a:t>
            </a:r>
          </a:p>
        </p:txBody>
      </p:sp>
      <p:pic>
        <p:nvPicPr>
          <p:cNvPr id="21" name="Grafik 20" descr="Ein Bild, das Flagge, rot, Karminrot, Symbol enthält.&#10;&#10;KI-generierte Inhalte können fehlerhaft sein.">
            <a:extLst>
              <a:ext uri="{FF2B5EF4-FFF2-40B4-BE49-F238E27FC236}">
                <a16:creationId xmlns:a16="http://schemas.microsoft.com/office/drawing/2014/main" id="{FBD8890F-A326-C8EF-4668-C02F7EC5D092}"/>
              </a:ext>
            </a:extLst>
          </p:cNvPr>
          <p:cNvPicPr>
            <a:picLocks noChangeAspect="1"/>
          </p:cNvPicPr>
          <p:nvPr/>
        </p:nvPicPr>
        <p:blipFill>
          <a:blip r:embed="rId4"/>
          <a:stretch>
            <a:fillRect/>
          </a:stretch>
        </p:blipFill>
        <p:spPr>
          <a:xfrm flipH="1">
            <a:off x="11261809" y="507102"/>
            <a:ext cx="331953" cy="216767"/>
          </a:xfrm>
          <a:prstGeom prst="rect">
            <a:avLst/>
          </a:prstGeom>
        </p:spPr>
      </p:pic>
      <p:pic>
        <p:nvPicPr>
          <p:cNvPr id="22" name="Grafik 21">
            <a:extLst>
              <a:ext uri="{FF2B5EF4-FFF2-40B4-BE49-F238E27FC236}">
                <a16:creationId xmlns:a16="http://schemas.microsoft.com/office/drawing/2014/main" id="{E5A39E5C-3A32-E174-E85F-6F8C444AB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3523" y="2062246"/>
            <a:ext cx="4853370" cy="1694288"/>
          </a:xfrm>
          <a:prstGeom prst="rect">
            <a:avLst/>
          </a:prstGeom>
        </p:spPr>
      </p:pic>
      <p:sp>
        <p:nvSpPr>
          <p:cNvPr id="23" name="Textfeld 22">
            <a:extLst>
              <a:ext uri="{FF2B5EF4-FFF2-40B4-BE49-F238E27FC236}">
                <a16:creationId xmlns:a16="http://schemas.microsoft.com/office/drawing/2014/main" id="{F47B1A59-AA77-880F-57DC-BFB2C6143F12}"/>
              </a:ext>
            </a:extLst>
          </p:cNvPr>
          <p:cNvSpPr txBox="1"/>
          <p:nvPr/>
        </p:nvSpPr>
        <p:spPr>
          <a:xfrm>
            <a:off x="3473523" y="3757442"/>
            <a:ext cx="5049162" cy="384721"/>
          </a:xfrm>
          <a:prstGeom prst="rect">
            <a:avLst/>
          </a:prstGeom>
          <a:noFill/>
        </p:spPr>
        <p:txBody>
          <a:bodyPr wrap="square" rtlCol="0">
            <a:spAutoFit/>
          </a:bodyPr>
          <a:lstStyle/>
          <a:p>
            <a:pPr algn="just"/>
            <a:r>
              <a:rPr lang="de-AT" sz="1850" b="1" dirty="0" err="1">
                <a:solidFill>
                  <a:schemeClr val="bg1"/>
                </a:solidFill>
                <a:latin typeface="Arial" panose="020B0604020202020204" pitchFamily="34" charset="0"/>
                <a:cs typeface="Arial" panose="020B0604020202020204" pitchFamily="34" charset="0"/>
              </a:rPr>
              <a:t>Your</a:t>
            </a:r>
            <a:r>
              <a:rPr lang="de-AT" sz="1850" b="1" dirty="0">
                <a:solidFill>
                  <a:schemeClr val="bg1"/>
                </a:solidFill>
                <a:latin typeface="Arial" panose="020B0604020202020204" pitchFamily="34" charset="0"/>
                <a:cs typeface="Arial" panose="020B0604020202020204" pitchFamily="34" charset="0"/>
              </a:rPr>
              <a:t> Partner </a:t>
            </a:r>
            <a:r>
              <a:rPr lang="de-AT" sz="1850" b="1" dirty="0" err="1">
                <a:solidFill>
                  <a:schemeClr val="bg1"/>
                </a:solidFill>
                <a:latin typeface="Arial" panose="020B0604020202020204" pitchFamily="34" charset="0"/>
                <a:cs typeface="Arial" panose="020B0604020202020204" pitchFamily="34" charset="0"/>
              </a:rPr>
              <a:t>for</a:t>
            </a:r>
            <a:r>
              <a:rPr lang="de-AT" sz="1850" b="1" dirty="0">
                <a:solidFill>
                  <a:schemeClr val="bg1"/>
                </a:solidFill>
                <a:latin typeface="Arial" panose="020B0604020202020204" pitchFamily="34" charset="0"/>
                <a:cs typeface="Arial" panose="020B0604020202020204" pitchFamily="34" charset="0"/>
              </a:rPr>
              <a:t> Technological Excellence</a:t>
            </a:r>
          </a:p>
        </p:txBody>
      </p:sp>
      <p:cxnSp>
        <p:nvCxnSpPr>
          <p:cNvPr id="25" name="Gerader Verbinder 24">
            <a:extLst>
              <a:ext uri="{FF2B5EF4-FFF2-40B4-BE49-F238E27FC236}">
                <a16:creationId xmlns:a16="http://schemas.microsoft.com/office/drawing/2014/main" id="{6F6A43A6-D01F-34D4-0D43-7BE4D26F7593}"/>
              </a:ext>
            </a:extLst>
          </p:cNvPr>
          <p:cNvCxnSpPr/>
          <p:nvPr/>
        </p:nvCxnSpPr>
        <p:spPr>
          <a:xfrm>
            <a:off x="0" y="1545996"/>
            <a:ext cx="12192000"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6D45A8B-78E5-AC2E-B26A-CC96E5C3DBF0}"/>
              </a:ext>
            </a:extLst>
          </p:cNvPr>
          <p:cNvCxnSpPr>
            <a:cxnSpLocks/>
          </p:cNvCxnSpPr>
          <p:nvPr/>
        </p:nvCxnSpPr>
        <p:spPr>
          <a:xfrm>
            <a:off x="-97896" y="4658413"/>
            <a:ext cx="12289896"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8D0613E0-9B4F-789B-D44A-AFE036ADAD49}"/>
              </a:ext>
            </a:extLst>
          </p:cNvPr>
          <p:cNvSpPr txBox="1"/>
          <p:nvPr/>
        </p:nvSpPr>
        <p:spPr>
          <a:xfrm>
            <a:off x="10302322" y="1578920"/>
            <a:ext cx="1587761" cy="246221"/>
          </a:xfrm>
          <a:prstGeom prst="rect">
            <a:avLst/>
          </a:prstGeom>
          <a:noFill/>
        </p:spPr>
        <p:txBody>
          <a:bodyPr wrap="square" rtlCol="0">
            <a:spAutoFit/>
          </a:bodyPr>
          <a:lstStyle/>
          <a:p>
            <a:pPr algn="just">
              <a:spcBef>
                <a:spcPts val="1200"/>
              </a:spcBef>
            </a:pPr>
            <a:r>
              <a:rPr lang="de-DE" sz="1000" dirty="0" err="1">
                <a:solidFill>
                  <a:srgbClr val="FFFF00"/>
                </a:solidFill>
              </a:rPr>
              <a:t>Blidbereich</a:t>
            </a:r>
            <a:r>
              <a:rPr lang="de-DE" sz="1000" dirty="0">
                <a:solidFill>
                  <a:srgbClr val="FFFF00"/>
                </a:solidFill>
              </a:rPr>
              <a:t> / </a:t>
            </a:r>
            <a:r>
              <a:rPr lang="de-DE" sz="1000">
                <a:solidFill>
                  <a:srgbClr val="FFFF00"/>
                </a:solidFill>
              </a:rPr>
              <a:t>Fotoserie 3.2</a:t>
            </a:r>
            <a:endParaRPr lang="de-DE" sz="1000" dirty="0">
              <a:solidFill>
                <a:srgbClr val="FFFF00"/>
              </a:solidFill>
            </a:endParaRPr>
          </a:p>
        </p:txBody>
      </p:sp>
      <p:sp>
        <p:nvSpPr>
          <p:cNvPr id="36" name="Flussdiagramm: Prozess 35">
            <a:extLst>
              <a:ext uri="{FF2B5EF4-FFF2-40B4-BE49-F238E27FC236}">
                <a16:creationId xmlns:a16="http://schemas.microsoft.com/office/drawing/2014/main" id="{E2836311-1C93-9DBA-87B0-B4513AD8AF34}"/>
              </a:ext>
            </a:extLst>
          </p:cNvPr>
          <p:cNvSpPr/>
          <p:nvPr/>
        </p:nvSpPr>
        <p:spPr>
          <a:xfrm>
            <a:off x="754144" y="2552313"/>
            <a:ext cx="2303818" cy="652014"/>
          </a:xfrm>
          <a:prstGeom prst="flowChartProcess">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Textfeld 37">
            <a:extLst>
              <a:ext uri="{FF2B5EF4-FFF2-40B4-BE49-F238E27FC236}">
                <a16:creationId xmlns:a16="http://schemas.microsoft.com/office/drawing/2014/main" id="{77101421-7978-8C98-709F-AFA01AA5F359}"/>
              </a:ext>
            </a:extLst>
          </p:cNvPr>
          <p:cNvSpPr txBox="1"/>
          <p:nvPr/>
        </p:nvSpPr>
        <p:spPr>
          <a:xfrm>
            <a:off x="1024036" y="2753637"/>
            <a:ext cx="1587761" cy="246221"/>
          </a:xfrm>
          <a:prstGeom prst="rect">
            <a:avLst/>
          </a:prstGeom>
          <a:noFill/>
        </p:spPr>
        <p:txBody>
          <a:bodyPr wrap="square" rtlCol="0">
            <a:spAutoFit/>
          </a:bodyPr>
          <a:lstStyle/>
          <a:p>
            <a:pPr algn="just">
              <a:spcBef>
                <a:spcPts val="1200"/>
              </a:spcBef>
            </a:pPr>
            <a:r>
              <a:rPr lang="de-DE" sz="1000" dirty="0">
                <a:solidFill>
                  <a:srgbClr val="FFFF00"/>
                </a:solidFill>
              </a:rPr>
              <a:t>Textserie 3.2</a:t>
            </a:r>
          </a:p>
        </p:txBody>
      </p:sp>
      <p:sp>
        <p:nvSpPr>
          <p:cNvPr id="46" name="Textfeld 45">
            <a:extLst>
              <a:ext uri="{FF2B5EF4-FFF2-40B4-BE49-F238E27FC236}">
                <a16:creationId xmlns:a16="http://schemas.microsoft.com/office/drawing/2014/main" id="{4B256F63-C568-C653-D832-C27A5772F550}"/>
              </a:ext>
            </a:extLst>
          </p:cNvPr>
          <p:cNvSpPr txBox="1"/>
          <p:nvPr/>
        </p:nvSpPr>
        <p:spPr>
          <a:xfrm>
            <a:off x="9811518" y="457258"/>
            <a:ext cx="1587761" cy="369332"/>
          </a:xfrm>
          <a:prstGeom prst="rect">
            <a:avLst/>
          </a:prstGeom>
          <a:noFill/>
        </p:spPr>
        <p:txBody>
          <a:bodyPr wrap="square" rtlCol="0">
            <a:spAutoFit/>
          </a:bodyPr>
          <a:lstStyle/>
          <a:p>
            <a:pPr algn="just">
              <a:spcBef>
                <a:spcPts val="1200"/>
              </a:spcBef>
            </a:pPr>
            <a:r>
              <a:rPr lang="de-DE" sz="1800" dirty="0">
                <a:solidFill>
                  <a:srgbClr val="FFFFFF"/>
                </a:solidFill>
              </a:rPr>
              <a:t>Download</a:t>
            </a:r>
          </a:p>
        </p:txBody>
      </p:sp>
    </p:spTree>
    <p:extLst>
      <p:ext uri="{BB962C8B-B14F-4D97-AF65-F5344CB8AC3E}">
        <p14:creationId xmlns:p14="http://schemas.microsoft.com/office/powerpoint/2010/main" val="2137090643"/>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FFC33-B781-7AD5-2500-49FC7AFE6015}"/>
            </a:ext>
          </a:extLst>
        </p:cNvPr>
        <p:cNvGrpSpPr/>
        <p:nvPr/>
      </p:nvGrpSpPr>
      <p:grpSpPr>
        <a:xfrm>
          <a:off x="0" y="0"/>
          <a:ext cx="0" cy="0"/>
          <a:chOff x="0" y="0"/>
          <a:chExt cx="0" cy="0"/>
        </a:xfrm>
      </p:grpSpPr>
      <p:pic>
        <p:nvPicPr>
          <p:cNvPr id="6" name="Grafik 5">
            <a:extLst>
              <a:ext uri="{FF2B5EF4-FFF2-40B4-BE49-F238E27FC236}">
                <a16:creationId xmlns:a16="http://schemas.microsoft.com/office/drawing/2014/main" id="{071553AB-0045-7029-4EE3-D74EED37A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28" y="376567"/>
            <a:ext cx="1368789" cy="477838"/>
          </a:xfrm>
          <a:prstGeom prst="rect">
            <a:avLst/>
          </a:prstGeom>
        </p:spPr>
      </p:pic>
      <p:sp>
        <p:nvSpPr>
          <p:cNvPr id="11" name="Fußzeilenplatzhalter 5">
            <a:extLst>
              <a:ext uri="{FF2B5EF4-FFF2-40B4-BE49-F238E27FC236}">
                <a16:creationId xmlns:a16="http://schemas.microsoft.com/office/drawing/2014/main" id="{AEB33EE7-9CF3-C017-40A4-486D23A966FC}"/>
              </a:ext>
            </a:extLst>
          </p:cNvPr>
          <p:cNvSpPr txBox="1">
            <a:spLocks/>
          </p:cNvSpPr>
          <p:nvPr/>
        </p:nvSpPr>
        <p:spPr>
          <a:xfrm>
            <a:off x="906276" y="6298870"/>
            <a:ext cx="10443596"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fontAlgn="base" hangingPunct="0">
              <a:spcBef>
                <a:spcPct val="0"/>
              </a:spcBef>
              <a:spcAft>
                <a:spcPct val="0"/>
              </a:spcAft>
              <a:tabLst>
                <a:tab pos="9864725" algn="r"/>
              </a:tabLst>
            </a:pP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MBO Trinity GmbH </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I</a:t>
            </a: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 mail: </a:t>
            </a:r>
            <a:r>
              <a:rPr lang="de-AT" altLang="de-DE" sz="1050" u="sng" dirty="0">
                <a:solidFill>
                  <a:schemeClr val="bg1"/>
                </a:solidFill>
                <a:latin typeface="Arial" panose="020B0604020202020204" pitchFamily="34" charset="0"/>
                <a:ea typeface="Times New Roman" panose="02020603050405020304" pitchFamily="18" charset="0"/>
                <a:cs typeface="Arial" panose="020B0604020202020204" pitchFamily="34" charset="0"/>
                <a:hlinkClick r:id="rId4">
                  <a:extLst>
                    <a:ext uri="{A12FA001-AC4F-418D-AE19-62706E023703}">
                      <ahyp:hlinkClr xmlns:ahyp="http://schemas.microsoft.com/office/drawing/2018/hyperlinkcolor" val="tx"/>
                    </a:ext>
                  </a:extLst>
                </a:hlinkClick>
              </a:rPr>
              <a:t>office@mbo-trinity.com</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 I </a:t>
            </a:r>
            <a:r>
              <a:rPr lang="de-AT" altLang="de-DE" sz="1050" b="1" dirty="0" err="1">
                <a:solidFill>
                  <a:schemeClr val="bg1"/>
                </a:solidFill>
                <a:latin typeface="Arial" panose="020B0604020202020204" pitchFamily="34" charset="0"/>
                <a:ea typeface="Times New Roman" panose="02020603050405020304" pitchFamily="18" charset="0"/>
                <a:cs typeface="Arial" panose="020B0604020202020204" pitchFamily="34" charset="0"/>
              </a:rPr>
              <a:t>tel</a:t>
            </a: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+43 502044-0	   </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mbo</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trinity</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gmbh</a:t>
            </a:r>
            <a:r>
              <a:rPr lang="de-AT" sz="1050" dirty="0">
                <a:solidFill>
                  <a:schemeClr val="bg1"/>
                </a:solidFill>
                <a:latin typeface="Arial" panose="020B0604020202020204" pitchFamily="34" charset="0"/>
                <a:cs typeface="Arial" panose="020B0604020202020204" pitchFamily="34" charset="0"/>
              </a:rPr>
              <a:t> I Datenschutz I Impressum I Allgemeine Geschäftsbedingungen</a:t>
            </a:r>
          </a:p>
        </p:txBody>
      </p:sp>
      <p:sp>
        <p:nvSpPr>
          <p:cNvPr id="5" name="Textfeld 4">
            <a:extLst>
              <a:ext uri="{FF2B5EF4-FFF2-40B4-BE49-F238E27FC236}">
                <a16:creationId xmlns:a16="http://schemas.microsoft.com/office/drawing/2014/main" id="{8BCA6B56-D235-81BC-076A-61EF7EC89B4E}"/>
              </a:ext>
            </a:extLst>
          </p:cNvPr>
          <p:cNvSpPr txBox="1"/>
          <p:nvPr/>
        </p:nvSpPr>
        <p:spPr>
          <a:xfrm>
            <a:off x="4428710"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Unternehmen</a:t>
            </a:r>
          </a:p>
        </p:txBody>
      </p:sp>
      <p:sp>
        <p:nvSpPr>
          <p:cNvPr id="10" name="Textfeld 9">
            <a:extLst>
              <a:ext uri="{FF2B5EF4-FFF2-40B4-BE49-F238E27FC236}">
                <a16:creationId xmlns:a16="http://schemas.microsoft.com/office/drawing/2014/main" id="{55BAB4B1-3FC1-5B03-6F4E-E2746E753BA0}"/>
              </a:ext>
            </a:extLst>
          </p:cNvPr>
          <p:cNvSpPr txBox="1"/>
          <p:nvPr/>
        </p:nvSpPr>
        <p:spPr>
          <a:xfrm>
            <a:off x="6146735"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Produkte</a:t>
            </a:r>
          </a:p>
        </p:txBody>
      </p:sp>
      <p:sp>
        <p:nvSpPr>
          <p:cNvPr id="14" name="Textfeld 13">
            <a:extLst>
              <a:ext uri="{FF2B5EF4-FFF2-40B4-BE49-F238E27FC236}">
                <a16:creationId xmlns:a16="http://schemas.microsoft.com/office/drawing/2014/main" id="{EBEFC97D-A850-730D-BB1A-CE8A5F3DD31B}"/>
              </a:ext>
            </a:extLst>
          </p:cNvPr>
          <p:cNvSpPr txBox="1"/>
          <p:nvPr/>
        </p:nvSpPr>
        <p:spPr>
          <a:xfrm>
            <a:off x="7429877" y="44106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Karriere</a:t>
            </a:r>
          </a:p>
        </p:txBody>
      </p:sp>
      <p:sp>
        <p:nvSpPr>
          <p:cNvPr id="15" name="Textfeld 14">
            <a:extLst>
              <a:ext uri="{FF2B5EF4-FFF2-40B4-BE49-F238E27FC236}">
                <a16:creationId xmlns:a16="http://schemas.microsoft.com/office/drawing/2014/main" id="{D92735DD-1C0B-C486-BA37-FD6E3383A871}"/>
              </a:ext>
            </a:extLst>
          </p:cNvPr>
          <p:cNvSpPr txBox="1"/>
          <p:nvPr/>
        </p:nvSpPr>
        <p:spPr>
          <a:xfrm>
            <a:off x="8586862" y="45155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Kontakt</a:t>
            </a:r>
          </a:p>
        </p:txBody>
      </p:sp>
      <p:pic>
        <p:nvPicPr>
          <p:cNvPr id="16" name="Grafik 15" descr="Ein Bild, das Flagge, rot, Karminrot, Symbol enthält.&#10;&#10;KI-generierte Inhalte können fehlerhaft sein.">
            <a:extLst>
              <a:ext uri="{FF2B5EF4-FFF2-40B4-BE49-F238E27FC236}">
                <a16:creationId xmlns:a16="http://schemas.microsoft.com/office/drawing/2014/main" id="{A6FF9B82-8B9B-F275-502C-6BE9063B0D09}"/>
              </a:ext>
            </a:extLst>
          </p:cNvPr>
          <p:cNvPicPr>
            <a:picLocks noChangeAspect="1"/>
          </p:cNvPicPr>
          <p:nvPr/>
        </p:nvPicPr>
        <p:blipFill>
          <a:blip r:embed="rId5"/>
          <a:stretch>
            <a:fillRect/>
          </a:stretch>
        </p:blipFill>
        <p:spPr>
          <a:xfrm flipH="1">
            <a:off x="11261809" y="507102"/>
            <a:ext cx="331953" cy="216767"/>
          </a:xfrm>
          <a:prstGeom prst="rect">
            <a:avLst/>
          </a:prstGeom>
        </p:spPr>
      </p:pic>
      <p:sp>
        <p:nvSpPr>
          <p:cNvPr id="17" name="Textfeld 16">
            <a:extLst>
              <a:ext uri="{FF2B5EF4-FFF2-40B4-BE49-F238E27FC236}">
                <a16:creationId xmlns:a16="http://schemas.microsoft.com/office/drawing/2014/main" id="{7C653B40-2815-5798-47C7-1AB84F306A4B}"/>
              </a:ext>
            </a:extLst>
          </p:cNvPr>
          <p:cNvSpPr txBox="1"/>
          <p:nvPr/>
        </p:nvSpPr>
        <p:spPr>
          <a:xfrm>
            <a:off x="9811518" y="457258"/>
            <a:ext cx="1587761" cy="369332"/>
          </a:xfrm>
          <a:prstGeom prst="rect">
            <a:avLst/>
          </a:prstGeom>
          <a:noFill/>
        </p:spPr>
        <p:txBody>
          <a:bodyPr wrap="square" rtlCol="0">
            <a:spAutoFit/>
          </a:bodyPr>
          <a:lstStyle/>
          <a:p>
            <a:pPr algn="just">
              <a:spcBef>
                <a:spcPts val="1200"/>
              </a:spcBef>
            </a:pPr>
            <a:r>
              <a:rPr lang="de-DE" sz="1800" dirty="0">
                <a:solidFill>
                  <a:srgbClr val="FFFFFF"/>
                </a:solidFill>
              </a:rPr>
              <a:t>Download</a:t>
            </a:r>
          </a:p>
        </p:txBody>
      </p:sp>
      <p:sp>
        <p:nvSpPr>
          <p:cNvPr id="18" name="Textfeld 17">
            <a:extLst>
              <a:ext uri="{FF2B5EF4-FFF2-40B4-BE49-F238E27FC236}">
                <a16:creationId xmlns:a16="http://schemas.microsoft.com/office/drawing/2014/main" id="{183EACCC-1EC2-36FF-D9C6-C8802841F690}"/>
              </a:ext>
            </a:extLst>
          </p:cNvPr>
          <p:cNvSpPr txBox="1"/>
          <p:nvPr/>
        </p:nvSpPr>
        <p:spPr>
          <a:xfrm>
            <a:off x="834596" y="1531594"/>
            <a:ext cx="10564683" cy="4462760"/>
          </a:xfrm>
          <a:prstGeom prst="rect">
            <a:avLst/>
          </a:prstGeom>
          <a:noFill/>
        </p:spPr>
        <p:txBody>
          <a:bodyPr wrap="square" rtlCol="0">
            <a:spAutoFit/>
          </a:bodyPr>
          <a:lstStyle/>
          <a:p>
            <a:pPr algn="just">
              <a:spcBef>
                <a:spcPts val="600"/>
              </a:spcBef>
              <a:spcAft>
                <a:spcPts val="600"/>
              </a:spcAft>
              <a:buSzPct val="90000"/>
            </a:pPr>
            <a:r>
              <a:rPr lang="de-DE" dirty="0">
                <a:solidFill>
                  <a:schemeClr val="bg1"/>
                </a:solidFill>
              </a:rPr>
              <a:t>Die MBO Trinity GmbH plant und integriert hochsensible Anlagen wie z.B.: </a:t>
            </a:r>
            <a:r>
              <a:rPr lang="de-AT" dirty="0">
                <a:solidFill>
                  <a:schemeClr val="bg1"/>
                </a:solidFill>
              </a:rPr>
              <a:t>MBMW-Tools, </a:t>
            </a:r>
            <a:r>
              <a:rPr lang="de-AT" dirty="0" err="1">
                <a:solidFill>
                  <a:schemeClr val="bg1"/>
                </a:solidFill>
              </a:rPr>
              <a:t>Photomask</a:t>
            </a:r>
            <a:r>
              <a:rPr lang="de-AT" dirty="0">
                <a:solidFill>
                  <a:schemeClr val="bg1"/>
                </a:solidFill>
              </a:rPr>
              <a:t> </a:t>
            </a:r>
            <a:r>
              <a:rPr lang="de-AT" dirty="0" err="1">
                <a:solidFill>
                  <a:schemeClr val="bg1"/>
                </a:solidFill>
              </a:rPr>
              <a:t>development</a:t>
            </a:r>
            <a:r>
              <a:rPr lang="de-AT" dirty="0">
                <a:solidFill>
                  <a:schemeClr val="bg1"/>
                </a:solidFill>
              </a:rPr>
              <a:t> </a:t>
            </a:r>
            <a:r>
              <a:rPr lang="de-AT" dirty="0" err="1">
                <a:solidFill>
                  <a:schemeClr val="bg1"/>
                </a:solidFill>
              </a:rPr>
              <a:t>systems</a:t>
            </a:r>
            <a:r>
              <a:rPr lang="de-AT" dirty="0">
                <a:solidFill>
                  <a:schemeClr val="bg1"/>
                </a:solidFill>
              </a:rPr>
              <a:t>, </a:t>
            </a:r>
            <a:r>
              <a:rPr lang="de-AT" dirty="0" err="1">
                <a:solidFill>
                  <a:schemeClr val="bg1"/>
                </a:solidFill>
              </a:rPr>
              <a:t>Sputtering</a:t>
            </a:r>
            <a:r>
              <a:rPr lang="de-AT" dirty="0">
                <a:solidFill>
                  <a:schemeClr val="bg1"/>
                </a:solidFill>
              </a:rPr>
              <a:t> </a:t>
            </a:r>
            <a:r>
              <a:rPr lang="de-AT" dirty="0" err="1">
                <a:solidFill>
                  <a:schemeClr val="bg1"/>
                </a:solidFill>
              </a:rPr>
              <a:t>tools</a:t>
            </a:r>
            <a:r>
              <a:rPr lang="de-AT" dirty="0">
                <a:solidFill>
                  <a:schemeClr val="bg1"/>
                </a:solidFill>
              </a:rPr>
              <a:t>, Scanning </a:t>
            </a:r>
            <a:r>
              <a:rPr lang="de-AT" dirty="0" err="1">
                <a:solidFill>
                  <a:schemeClr val="bg1"/>
                </a:solidFill>
              </a:rPr>
              <a:t>Electron</a:t>
            </a:r>
            <a:r>
              <a:rPr lang="de-AT" dirty="0">
                <a:solidFill>
                  <a:schemeClr val="bg1"/>
                </a:solidFill>
              </a:rPr>
              <a:t> </a:t>
            </a:r>
            <a:r>
              <a:rPr lang="de-AT" dirty="0" err="1">
                <a:solidFill>
                  <a:schemeClr val="bg1"/>
                </a:solidFill>
              </a:rPr>
              <a:t>Microscopes</a:t>
            </a:r>
            <a:r>
              <a:rPr lang="de-AT" dirty="0">
                <a:solidFill>
                  <a:schemeClr val="bg1"/>
                </a:solidFill>
              </a:rPr>
              <a:t>, Test </a:t>
            </a:r>
            <a:r>
              <a:rPr lang="de-AT" dirty="0" err="1">
                <a:solidFill>
                  <a:schemeClr val="bg1"/>
                </a:solidFill>
              </a:rPr>
              <a:t>benches</a:t>
            </a:r>
            <a:r>
              <a:rPr lang="de-AT" dirty="0">
                <a:solidFill>
                  <a:schemeClr val="bg1"/>
                </a:solidFill>
              </a:rPr>
              <a:t>, Climate Chambers in Reinräumen und Grauräumen.</a:t>
            </a:r>
          </a:p>
          <a:p>
            <a:pPr algn="just">
              <a:spcBef>
                <a:spcPts val="600"/>
              </a:spcBef>
              <a:spcAft>
                <a:spcPts val="600"/>
              </a:spcAft>
              <a:buSzPct val="90000"/>
            </a:pPr>
            <a:r>
              <a:rPr lang="de-AT" dirty="0">
                <a:solidFill>
                  <a:schemeClr val="bg1"/>
                </a:solidFill>
              </a:rPr>
              <a:t>In der Regel treten wir bei der Projektumsetzung als Generalunternehmer auf und Koordinieren die gesamte Projektabwicklung.</a:t>
            </a:r>
          </a:p>
          <a:p>
            <a:pPr algn="just">
              <a:spcBef>
                <a:spcPts val="600"/>
              </a:spcBef>
              <a:spcAft>
                <a:spcPts val="600"/>
              </a:spcAft>
              <a:buSzPct val="90000"/>
            </a:pPr>
            <a:r>
              <a:rPr lang="de-AT" dirty="0">
                <a:solidFill>
                  <a:schemeClr val="bg1"/>
                </a:solidFill>
              </a:rPr>
              <a:t>Wir sind es gewohnt Integrationen von komplexesten Anlagen in bestehende Reinraumumgebungen bei laufender Produktion durchzuführen. Selbst Fundamentarbeiten mit Abbruch, Aushub und Betonage wurden schon mehrmals in bestehenden Reinraumumgebungen bei aufrechter Produktion umgesetzt.</a:t>
            </a:r>
          </a:p>
          <a:p>
            <a:pPr algn="just">
              <a:spcBef>
                <a:spcPts val="600"/>
              </a:spcBef>
              <a:spcAft>
                <a:spcPts val="600"/>
              </a:spcAft>
              <a:buSzPct val="90000"/>
            </a:pPr>
            <a:r>
              <a:rPr lang="de-DE" dirty="0">
                <a:solidFill>
                  <a:schemeClr val="bg1"/>
                </a:solidFill>
              </a:rPr>
              <a:t>Die Leistungen der MBO Trinity GmbH umfassen dabei den gesamten Projektzyklus:</a:t>
            </a:r>
          </a:p>
          <a:p>
            <a:pPr marL="285750" indent="-285750" algn="just">
              <a:spcBef>
                <a:spcPts val="600"/>
              </a:spcBef>
              <a:spcAft>
                <a:spcPts val="600"/>
              </a:spcAft>
              <a:buSzPct val="90000"/>
              <a:buFont typeface="Wingdings" panose="05000000000000000000" pitchFamily="2" charset="2"/>
              <a:buChar char="§"/>
            </a:pPr>
            <a:r>
              <a:rPr lang="de-DE" dirty="0">
                <a:solidFill>
                  <a:schemeClr val="bg1"/>
                </a:solidFill>
              </a:rPr>
              <a:t>Wir führen die Layout- und Detailplanung hinsichtlich der Anlagenintegration, inklusive der Medien- und Energieversorgung sowie der Sub-</a:t>
            </a:r>
            <a:r>
              <a:rPr lang="de-DE" dirty="0" err="1">
                <a:solidFill>
                  <a:schemeClr val="bg1"/>
                </a:solidFill>
              </a:rPr>
              <a:t>Componenten</a:t>
            </a:r>
            <a:r>
              <a:rPr lang="de-DE" dirty="0">
                <a:solidFill>
                  <a:schemeClr val="bg1"/>
                </a:solidFill>
              </a:rPr>
              <a:t> durch</a:t>
            </a:r>
          </a:p>
          <a:p>
            <a:pPr marL="285750" indent="-285750" algn="just">
              <a:spcBef>
                <a:spcPts val="600"/>
              </a:spcBef>
              <a:spcAft>
                <a:spcPts val="600"/>
              </a:spcAft>
              <a:buSzPct val="90000"/>
              <a:buFont typeface="Wingdings" panose="05000000000000000000" pitchFamily="2" charset="2"/>
              <a:buChar char="§"/>
            </a:pPr>
            <a:r>
              <a:rPr lang="de-DE" dirty="0">
                <a:solidFill>
                  <a:schemeClr val="bg1"/>
                </a:solidFill>
              </a:rPr>
              <a:t>Planen und adaptieren bestehende Prozessumgebungen oder errichten neue Prozessumgebungen zur Aufnahme der Anlage und zur Einhaltung der Spezifikationen</a:t>
            </a:r>
          </a:p>
        </p:txBody>
      </p:sp>
    </p:spTree>
    <p:extLst>
      <p:ext uri="{BB962C8B-B14F-4D97-AF65-F5344CB8AC3E}">
        <p14:creationId xmlns:p14="http://schemas.microsoft.com/office/powerpoint/2010/main" val="1392055499"/>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96B17-028A-5BD5-5CFF-212920CAFA82}"/>
            </a:ext>
          </a:extLst>
        </p:cNvPr>
        <p:cNvGrpSpPr/>
        <p:nvPr/>
      </p:nvGrpSpPr>
      <p:grpSpPr>
        <a:xfrm>
          <a:off x="0" y="0"/>
          <a:ext cx="0" cy="0"/>
          <a:chOff x="0" y="0"/>
          <a:chExt cx="0" cy="0"/>
        </a:xfrm>
      </p:grpSpPr>
      <p:pic>
        <p:nvPicPr>
          <p:cNvPr id="6" name="Grafik 5">
            <a:extLst>
              <a:ext uri="{FF2B5EF4-FFF2-40B4-BE49-F238E27FC236}">
                <a16:creationId xmlns:a16="http://schemas.microsoft.com/office/drawing/2014/main" id="{A724DE30-BD18-4A8F-0C95-81F6555BE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28" y="376567"/>
            <a:ext cx="1368789" cy="477838"/>
          </a:xfrm>
          <a:prstGeom prst="rect">
            <a:avLst/>
          </a:prstGeom>
        </p:spPr>
      </p:pic>
      <p:sp>
        <p:nvSpPr>
          <p:cNvPr id="11" name="Fußzeilenplatzhalter 5">
            <a:extLst>
              <a:ext uri="{FF2B5EF4-FFF2-40B4-BE49-F238E27FC236}">
                <a16:creationId xmlns:a16="http://schemas.microsoft.com/office/drawing/2014/main" id="{03C6B5BE-F3EF-B05D-840D-190DDFCD2401}"/>
              </a:ext>
            </a:extLst>
          </p:cNvPr>
          <p:cNvSpPr txBox="1">
            <a:spLocks/>
          </p:cNvSpPr>
          <p:nvPr/>
        </p:nvSpPr>
        <p:spPr>
          <a:xfrm>
            <a:off x="906276" y="6298870"/>
            <a:ext cx="10443596"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fontAlgn="base" hangingPunct="0">
              <a:spcBef>
                <a:spcPct val="0"/>
              </a:spcBef>
              <a:spcAft>
                <a:spcPct val="0"/>
              </a:spcAft>
              <a:tabLst>
                <a:tab pos="9864725" algn="r"/>
              </a:tabLst>
            </a:pP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MBO Trinity GmbH </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I</a:t>
            </a: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 mail: </a:t>
            </a:r>
            <a:r>
              <a:rPr lang="de-AT" altLang="de-DE" sz="1050" u="sng" dirty="0">
                <a:solidFill>
                  <a:schemeClr val="bg1"/>
                </a:solidFill>
                <a:latin typeface="Arial" panose="020B0604020202020204" pitchFamily="34" charset="0"/>
                <a:ea typeface="Times New Roman" panose="02020603050405020304" pitchFamily="18" charset="0"/>
                <a:cs typeface="Arial" panose="020B0604020202020204" pitchFamily="34" charset="0"/>
                <a:hlinkClick r:id="rId4">
                  <a:extLst>
                    <a:ext uri="{A12FA001-AC4F-418D-AE19-62706E023703}">
                      <ahyp:hlinkClr xmlns:ahyp="http://schemas.microsoft.com/office/drawing/2018/hyperlinkcolor" val="tx"/>
                    </a:ext>
                  </a:extLst>
                </a:hlinkClick>
              </a:rPr>
              <a:t>office@mbo-trinity.com</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 I </a:t>
            </a:r>
            <a:r>
              <a:rPr lang="de-AT" altLang="de-DE" sz="1050" b="1" dirty="0" err="1">
                <a:solidFill>
                  <a:schemeClr val="bg1"/>
                </a:solidFill>
                <a:latin typeface="Arial" panose="020B0604020202020204" pitchFamily="34" charset="0"/>
                <a:ea typeface="Times New Roman" panose="02020603050405020304" pitchFamily="18" charset="0"/>
                <a:cs typeface="Arial" panose="020B0604020202020204" pitchFamily="34" charset="0"/>
              </a:rPr>
              <a:t>tel</a:t>
            </a: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+43 502044-0	   </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mbo</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trinity</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gmbh</a:t>
            </a:r>
            <a:r>
              <a:rPr lang="de-AT" sz="1050" dirty="0">
                <a:solidFill>
                  <a:schemeClr val="bg1"/>
                </a:solidFill>
                <a:latin typeface="Arial" panose="020B0604020202020204" pitchFamily="34" charset="0"/>
                <a:cs typeface="Arial" panose="020B0604020202020204" pitchFamily="34" charset="0"/>
              </a:rPr>
              <a:t> I Datenschutz I Impressum I Allgemeine Geschäftsbedingungen</a:t>
            </a:r>
          </a:p>
        </p:txBody>
      </p:sp>
      <p:sp>
        <p:nvSpPr>
          <p:cNvPr id="5" name="Textfeld 4">
            <a:extLst>
              <a:ext uri="{FF2B5EF4-FFF2-40B4-BE49-F238E27FC236}">
                <a16:creationId xmlns:a16="http://schemas.microsoft.com/office/drawing/2014/main" id="{C77C4F5D-AE92-134A-62AD-D7AF62A6CF6B}"/>
              </a:ext>
            </a:extLst>
          </p:cNvPr>
          <p:cNvSpPr txBox="1"/>
          <p:nvPr/>
        </p:nvSpPr>
        <p:spPr>
          <a:xfrm>
            <a:off x="4428710"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Unternehmen</a:t>
            </a:r>
          </a:p>
        </p:txBody>
      </p:sp>
      <p:sp>
        <p:nvSpPr>
          <p:cNvPr id="10" name="Textfeld 9">
            <a:extLst>
              <a:ext uri="{FF2B5EF4-FFF2-40B4-BE49-F238E27FC236}">
                <a16:creationId xmlns:a16="http://schemas.microsoft.com/office/drawing/2014/main" id="{ED3AFA6C-4F49-AB61-644E-AA2B65A2E820}"/>
              </a:ext>
            </a:extLst>
          </p:cNvPr>
          <p:cNvSpPr txBox="1"/>
          <p:nvPr/>
        </p:nvSpPr>
        <p:spPr>
          <a:xfrm>
            <a:off x="6146735"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Produkte</a:t>
            </a:r>
          </a:p>
        </p:txBody>
      </p:sp>
      <p:sp>
        <p:nvSpPr>
          <p:cNvPr id="14" name="Textfeld 13">
            <a:extLst>
              <a:ext uri="{FF2B5EF4-FFF2-40B4-BE49-F238E27FC236}">
                <a16:creationId xmlns:a16="http://schemas.microsoft.com/office/drawing/2014/main" id="{11F40984-76CD-89A2-1151-7D0D4A87EAAF}"/>
              </a:ext>
            </a:extLst>
          </p:cNvPr>
          <p:cNvSpPr txBox="1"/>
          <p:nvPr/>
        </p:nvSpPr>
        <p:spPr>
          <a:xfrm>
            <a:off x="7429877" y="44106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Karriere</a:t>
            </a:r>
          </a:p>
        </p:txBody>
      </p:sp>
      <p:sp>
        <p:nvSpPr>
          <p:cNvPr id="15" name="Textfeld 14">
            <a:extLst>
              <a:ext uri="{FF2B5EF4-FFF2-40B4-BE49-F238E27FC236}">
                <a16:creationId xmlns:a16="http://schemas.microsoft.com/office/drawing/2014/main" id="{0A45FE68-87C3-2FED-2C12-B7CCC7EB7534}"/>
              </a:ext>
            </a:extLst>
          </p:cNvPr>
          <p:cNvSpPr txBox="1"/>
          <p:nvPr/>
        </p:nvSpPr>
        <p:spPr>
          <a:xfrm>
            <a:off x="8586862" y="45155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Kontakt</a:t>
            </a:r>
          </a:p>
        </p:txBody>
      </p:sp>
      <p:pic>
        <p:nvPicPr>
          <p:cNvPr id="16" name="Grafik 15" descr="Ein Bild, das Flagge, rot, Karminrot, Symbol enthält.&#10;&#10;KI-generierte Inhalte können fehlerhaft sein.">
            <a:extLst>
              <a:ext uri="{FF2B5EF4-FFF2-40B4-BE49-F238E27FC236}">
                <a16:creationId xmlns:a16="http://schemas.microsoft.com/office/drawing/2014/main" id="{A63BB973-C5B3-DE57-9D70-123257284D50}"/>
              </a:ext>
            </a:extLst>
          </p:cNvPr>
          <p:cNvPicPr>
            <a:picLocks noChangeAspect="1"/>
          </p:cNvPicPr>
          <p:nvPr/>
        </p:nvPicPr>
        <p:blipFill>
          <a:blip r:embed="rId5"/>
          <a:stretch>
            <a:fillRect/>
          </a:stretch>
        </p:blipFill>
        <p:spPr>
          <a:xfrm flipH="1">
            <a:off x="11261809" y="507102"/>
            <a:ext cx="331953" cy="216767"/>
          </a:xfrm>
          <a:prstGeom prst="rect">
            <a:avLst/>
          </a:prstGeom>
        </p:spPr>
      </p:pic>
      <p:sp>
        <p:nvSpPr>
          <p:cNvPr id="17" name="Textfeld 16">
            <a:extLst>
              <a:ext uri="{FF2B5EF4-FFF2-40B4-BE49-F238E27FC236}">
                <a16:creationId xmlns:a16="http://schemas.microsoft.com/office/drawing/2014/main" id="{A4E09218-5DD5-346E-E622-73927334B000}"/>
              </a:ext>
            </a:extLst>
          </p:cNvPr>
          <p:cNvSpPr txBox="1"/>
          <p:nvPr/>
        </p:nvSpPr>
        <p:spPr>
          <a:xfrm>
            <a:off x="9811518" y="457258"/>
            <a:ext cx="1587761" cy="369332"/>
          </a:xfrm>
          <a:prstGeom prst="rect">
            <a:avLst/>
          </a:prstGeom>
          <a:noFill/>
        </p:spPr>
        <p:txBody>
          <a:bodyPr wrap="square" rtlCol="0">
            <a:spAutoFit/>
          </a:bodyPr>
          <a:lstStyle/>
          <a:p>
            <a:pPr algn="just">
              <a:spcBef>
                <a:spcPts val="1200"/>
              </a:spcBef>
            </a:pPr>
            <a:r>
              <a:rPr lang="de-DE" sz="1800" dirty="0">
                <a:solidFill>
                  <a:srgbClr val="FFFFFF"/>
                </a:solidFill>
              </a:rPr>
              <a:t>Download</a:t>
            </a:r>
          </a:p>
        </p:txBody>
      </p:sp>
      <p:sp>
        <p:nvSpPr>
          <p:cNvPr id="18" name="Textfeld 17">
            <a:extLst>
              <a:ext uri="{FF2B5EF4-FFF2-40B4-BE49-F238E27FC236}">
                <a16:creationId xmlns:a16="http://schemas.microsoft.com/office/drawing/2014/main" id="{F470912C-75BA-C772-F7EE-AE00E3AED341}"/>
              </a:ext>
            </a:extLst>
          </p:cNvPr>
          <p:cNvSpPr txBox="1"/>
          <p:nvPr/>
        </p:nvSpPr>
        <p:spPr>
          <a:xfrm>
            <a:off x="834596" y="865847"/>
            <a:ext cx="10564683" cy="2215991"/>
          </a:xfrm>
          <a:prstGeom prst="rect">
            <a:avLst/>
          </a:prstGeom>
          <a:noFill/>
        </p:spPr>
        <p:txBody>
          <a:bodyPr wrap="square" rtlCol="0">
            <a:spAutoFit/>
          </a:bodyPr>
          <a:lstStyle/>
          <a:p>
            <a:pPr marL="285750" indent="-285750" algn="just">
              <a:spcBef>
                <a:spcPts val="600"/>
              </a:spcBef>
              <a:spcAft>
                <a:spcPts val="600"/>
              </a:spcAft>
              <a:buSzPct val="90000"/>
              <a:buFont typeface="Wingdings" panose="05000000000000000000" pitchFamily="2" charset="2"/>
              <a:buChar char="§"/>
            </a:pPr>
            <a:r>
              <a:rPr lang="de-DE" dirty="0">
                <a:solidFill>
                  <a:schemeClr val="bg1"/>
                </a:solidFill>
              </a:rPr>
              <a:t>Wir Koordinieren die Installation durch den Anlagenlieferanten bzw. der Sub-Kontraktoren oder führen diese selbstständig durch</a:t>
            </a:r>
          </a:p>
          <a:p>
            <a:pPr marL="285750" indent="-285750" algn="just">
              <a:spcBef>
                <a:spcPts val="600"/>
              </a:spcBef>
              <a:spcAft>
                <a:spcPts val="600"/>
              </a:spcAft>
              <a:buSzPct val="90000"/>
              <a:buFont typeface="Wingdings" panose="05000000000000000000" pitchFamily="2" charset="2"/>
              <a:buChar char="§"/>
            </a:pPr>
            <a:r>
              <a:rPr lang="de-DE" dirty="0">
                <a:solidFill>
                  <a:schemeClr val="bg1"/>
                </a:solidFill>
              </a:rPr>
              <a:t>Unterstützen bei der FAT durch den Anlagenlieferanten bzw. führen diese selbstständig durch</a:t>
            </a:r>
          </a:p>
          <a:p>
            <a:pPr marL="285750" indent="-285750" algn="just">
              <a:spcBef>
                <a:spcPts val="600"/>
              </a:spcBef>
              <a:spcAft>
                <a:spcPts val="600"/>
              </a:spcAft>
              <a:buSzPct val="90000"/>
              <a:buFont typeface="Wingdings" panose="05000000000000000000" pitchFamily="2" charset="2"/>
              <a:buChar char="§"/>
            </a:pPr>
            <a:r>
              <a:rPr lang="de-DE" dirty="0">
                <a:solidFill>
                  <a:schemeClr val="bg1"/>
                </a:solidFill>
              </a:rPr>
              <a:t>Erstellen die Projekt-Dokumentation</a:t>
            </a:r>
          </a:p>
          <a:p>
            <a:pPr algn="just">
              <a:spcBef>
                <a:spcPts val="600"/>
              </a:spcBef>
              <a:spcAft>
                <a:spcPts val="600"/>
              </a:spcAft>
              <a:buSzPct val="90000"/>
            </a:pPr>
            <a:r>
              <a:rPr lang="de-AT" dirty="0">
                <a:solidFill>
                  <a:schemeClr val="bg1"/>
                </a:solidFill>
              </a:rPr>
              <a:t>Wir stellen sicher, dass strengste Spezifikationen eingehalten werden und das die Implementierung Ihrer Anlage qualitativ auf höchstem Niveau umgesetzt wird.</a:t>
            </a:r>
            <a:endParaRPr lang="en-US" dirty="0">
              <a:solidFill>
                <a:schemeClr val="bg1"/>
              </a:solidFill>
            </a:endParaRPr>
          </a:p>
        </p:txBody>
      </p:sp>
    </p:spTree>
    <p:extLst>
      <p:ext uri="{BB962C8B-B14F-4D97-AF65-F5344CB8AC3E}">
        <p14:creationId xmlns:p14="http://schemas.microsoft.com/office/powerpoint/2010/main" val="1555488331"/>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5772-55D3-0AB9-A032-42FF6AEB254C}"/>
            </a:ext>
          </a:extLst>
        </p:cNvPr>
        <p:cNvGrpSpPr/>
        <p:nvPr/>
      </p:nvGrpSpPr>
      <p:grpSpPr>
        <a:xfrm>
          <a:off x="0" y="0"/>
          <a:ext cx="0" cy="0"/>
          <a:chOff x="0" y="0"/>
          <a:chExt cx="0" cy="0"/>
        </a:xfrm>
      </p:grpSpPr>
      <p:pic>
        <p:nvPicPr>
          <p:cNvPr id="6" name="Grafik 5">
            <a:extLst>
              <a:ext uri="{FF2B5EF4-FFF2-40B4-BE49-F238E27FC236}">
                <a16:creationId xmlns:a16="http://schemas.microsoft.com/office/drawing/2014/main" id="{8A2363B8-1F2A-30AC-D149-9180C8509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28" y="376567"/>
            <a:ext cx="1368789" cy="477838"/>
          </a:xfrm>
          <a:prstGeom prst="rect">
            <a:avLst/>
          </a:prstGeom>
        </p:spPr>
      </p:pic>
      <p:pic>
        <p:nvPicPr>
          <p:cNvPr id="2" name="Grafik 1">
            <a:extLst>
              <a:ext uri="{FF2B5EF4-FFF2-40B4-BE49-F238E27FC236}">
                <a16:creationId xmlns:a16="http://schemas.microsoft.com/office/drawing/2014/main" id="{C6DBBA95-4A0C-6AF2-E26D-3BBC3531BFD6}"/>
              </a:ext>
            </a:extLst>
          </p:cNvPr>
          <p:cNvPicPr>
            <a:picLocks noChangeAspect="1"/>
          </p:cNvPicPr>
          <p:nvPr/>
        </p:nvPicPr>
        <p:blipFill>
          <a:blip r:embed="rId4"/>
          <a:stretch>
            <a:fillRect/>
          </a:stretch>
        </p:blipFill>
        <p:spPr>
          <a:xfrm>
            <a:off x="688591" y="1562095"/>
            <a:ext cx="2064464" cy="2752619"/>
          </a:xfrm>
          <a:prstGeom prst="rect">
            <a:avLst/>
          </a:prstGeom>
        </p:spPr>
      </p:pic>
      <p:pic>
        <p:nvPicPr>
          <p:cNvPr id="3" name="Grafik 2">
            <a:extLst>
              <a:ext uri="{FF2B5EF4-FFF2-40B4-BE49-F238E27FC236}">
                <a16:creationId xmlns:a16="http://schemas.microsoft.com/office/drawing/2014/main" id="{8C30C996-0566-54A1-77B1-308D06E76F25}"/>
              </a:ext>
            </a:extLst>
          </p:cNvPr>
          <p:cNvPicPr>
            <a:picLocks noChangeAspect="1"/>
          </p:cNvPicPr>
          <p:nvPr/>
        </p:nvPicPr>
        <p:blipFill>
          <a:blip r:embed="rId5"/>
          <a:stretch>
            <a:fillRect/>
          </a:stretch>
        </p:blipFill>
        <p:spPr>
          <a:xfrm>
            <a:off x="9219827" y="1562095"/>
            <a:ext cx="2302434" cy="2983954"/>
          </a:xfrm>
          <a:prstGeom prst="rect">
            <a:avLst/>
          </a:prstGeom>
        </p:spPr>
      </p:pic>
      <p:sp>
        <p:nvSpPr>
          <p:cNvPr id="4" name="Textfeld 3">
            <a:extLst>
              <a:ext uri="{FF2B5EF4-FFF2-40B4-BE49-F238E27FC236}">
                <a16:creationId xmlns:a16="http://schemas.microsoft.com/office/drawing/2014/main" id="{BC7F06F7-0FAF-3B20-4116-6C3DC9A420C9}"/>
              </a:ext>
            </a:extLst>
          </p:cNvPr>
          <p:cNvSpPr txBox="1"/>
          <p:nvPr/>
        </p:nvSpPr>
        <p:spPr>
          <a:xfrm>
            <a:off x="3710815" y="2199490"/>
            <a:ext cx="4853370" cy="1246495"/>
          </a:xfrm>
          <a:prstGeom prst="rect">
            <a:avLst/>
          </a:prstGeom>
          <a:noFill/>
        </p:spPr>
        <p:txBody>
          <a:bodyPr wrap="square" rtlCol="0">
            <a:spAutoFit/>
          </a:bodyPr>
          <a:lstStyle/>
          <a:p>
            <a:pPr algn="just"/>
            <a:r>
              <a:rPr lang="de-AT" sz="2100" b="1" dirty="0">
                <a:solidFill>
                  <a:schemeClr val="bg1"/>
                </a:solidFill>
                <a:latin typeface="Arial" panose="020B0604020202020204" pitchFamily="34" charset="0"/>
                <a:cs typeface="Arial" panose="020B0604020202020204" pitchFamily="34" charset="0"/>
              </a:rPr>
              <a:t>Steigen Sie ein in die Welt der MBO</a:t>
            </a:r>
          </a:p>
          <a:p>
            <a:pPr marL="342900" indent="-342900" algn="just">
              <a:buFont typeface="+mj-lt"/>
              <a:buAutoNum type="arabicPeriod"/>
            </a:pPr>
            <a:r>
              <a:rPr lang="de-AT" dirty="0">
                <a:solidFill>
                  <a:schemeClr val="bg1"/>
                </a:solidFill>
                <a:latin typeface="Arial" panose="020B0604020202020204" pitchFamily="34" charset="0"/>
                <a:cs typeface="Arial" panose="020B0604020202020204" pitchFamily="34" charset="0"/>
              </a:rPr>
              <a:t>Sannen des QR-Codes</a:t>
            </a:r>
          </a:p>
          <a:p>
            <a:pPr marL="342900" indent="-342900" algn="just">
              <a:buFont typeface="+mj-lt"/>
              <a:buAutoNum type="arabicPeriod"/>
            </a:pPr>
            <a:r>
              <a:rPr lang="de-AT" dirty="0">
                <a:solidFill>
                  <a:schemeClr val="bg1"/>
                </a:solidFill>
                <a:latin typeface="Arial" panose="020B0604020202020204" pitchFamily="34" charset="0"/>
                <a:cs typeface="Arial" panose="020B0604020202020204" pitchFamily="34" charset="0"/>
              </a:rPr>
              <a:t>Browser (Chrome oder Safari)</a:t>
            </a:r>
          </a:p>
          <a:p>
            <a:pPr marL="342900" indent="-342900" algn="just">
              <a:buFont typeface="+mj-lt"/>
              <a:buAutoNum type="arabicPeriod"/>
            </a:pPr>
            <a:r>
              <a:rPr lang="de-AT" dirty="0">
                <a:solidFill>
                  <a:schemeClr val="bg1"/>
                </a:solidFill>
                <a:latin typeface="Arial" panose="020B0604020202020204" pitchFamily="34" charset="0"/>
                <a:cs typeface="Arial" panose="020B0604020202020204" pitchFamily="34" charset="0"/>
              </a:rPr>
              <a:t>Menüführung am Handy folgen</a:t>
            </a:r>
          </a:p>
        </p:txBody>
      </p:sp>
      <p:sp>
        <p:nvSpPr>
          <p:cNvPr id="11" name="Fußzeilenplatzhalter 5">
            <a:extLst>
              <a:ext uri="{FF2B5EF4-FFF2-40B4-BE49-F238E27FC236}">
                <a16:creationId xmlns:a16="http://schemas.microsoft.com/office/drawing/2014/main" id="{89CE68CD-8814-3694-1779-5E45C635F18B}"/>
              </a:ext>
            </a:extLst>
          </p:cNvPr>
          <p:cNvSpPr txBox="1">
            <a:spLocks/>
          </p:cNvSpPr>
          <p:nvPr/>
        </p:nvSpPr>
        <p:spPr>
          <a:xfrm>
            <a:off x="906276" y="6298870"/>
            <a:ext cx="10443596"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fontAlgn="base" hangingPunct="0">
              <a:spcBef>
                <a:spcPct val="0"/>
              </a:spcBef>
              <a:spcAft>
                <a:spcPct val="0"/>
              </a:spcAft>
              <a:tabLst>
                <a:tab pos="9864725" algn="r"/>
              </a:tabLst>
            </a:pP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MBO Trinity GmbH </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I</a:t>
            </a: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 mail: </a:t>
            </a:r>
            <a:r>
              <a:rPr lang="de-AT" altLang="de-DE" sz="1050" u="sng" dirty="0">
                <a:solidFill>
                  <a:schemeClr val="bg1"/>
                </a:solidFill>
                <a:latin typeface="Arial" panose="020B0604020202020204" pitchFamily="34" charset="0"/>
                <a:ea typeface="Times New Roman" panose="02020603050405020304" pitchFamily="18" charset="0"/>
                <a:cs typeface="Arial" panose="020B0604020202020204" pitchFamily="34" charset="0"/>
                <a:hlinkClick r:id="rId6">
                  <a:extLst>
                    <a:ext uri="{A12FA001-AC4F-418D-AE19-62706E023703}">
                      <ahyp:hlinkClr xmlns:ahyp="http://schemas.microsoft.com/office/drawing/2018/hyperlinkcolor" val="tx"/>
                    </a:ext>
                  </a:extLst>
                </a:hlinkClick>
              </a:rPr>
              <a:t>office@mbo-trinity.com</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 I </a:t>
            </a:r>
            <a:r>
              <a:rPr lang="de-AT" altLang="de-DE" sz="1050" b="1" dirty="0" err="1">
                <a:solidFill>
                  <a:schemeClr val="bg1"/>
                </a:solidFill>
                <a:latin typeface="Arial" panose="020B0604020202020204" pitchFamily="34" charset="0"/>
                <a:ea typeface="Times New Roman" panose="02020603050405020304" pitchFamily="18" charset="0"/>
                <a:cs typeface="Arial" panose="020B0604020202020204" pitchFamily="34" charset="0"/>
              </a:rPr>
              <a:t>tel</a:t>
            </a:r>
            <a:r>
              <a:rPr lang="de-AT" altLang="de-DE" sz="1050" b="1"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de-AT" altLang="de-DE" sz="1050" dirty="0">
                <a:solidFill>
                  <a:schemeClr val="bg1"/>
                </a:solidFill>
                <a:latin typeface="Arial" panose="020B0604020202020204" pitchFamily="34" charset="0"/>
                <a:ea typeface="Times New Roman" panose="02020603050405020304" pitchFamily="18" charset="0"/>
                <a:cs typeface="Arial" panose="020B0604020202020204" pitchFamily="34" charset="0"/>
              </a:rPr>
              <a:t>+43 502044-0	   </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mbo</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trinity</a:t>
            </a:r>
            <a:r>
              <a:rPr lang="de-AT" sz="1050" dirty="0">
                <a:solidFill>
                  <a:schemeClr val="bg1"/>
                </a:solidFill>
                <a:latin typeface="Arial" panose="020B0604020202020204" pitchFamily="34" charset="0"/>
                <a:cs typeface="Arial" panose="020B0604020202020204" pitchFamily="34" charset="0"/>
              </a:rPr>
              <a:t> </a:t>
            </a:r>
            <a:r>
              <a:rPr lang="de-AT" sz="1050" dirty="0" err="1">
                <a:solidFill>
                  <a:schemeClr val="bg1"/>
                </a:solidFill>
                <a:latin typeface="Arial" panose="020B0604020202020204" pitchFamily="34" charset="0"/>
                <a:cs typeface="Arial" panose="020B0604020202020204" pitchFamily="34" charset="0"/>
              </a:rPr>
              <a:t>gmbh</a:t>
            </a:r>
            <a:r>
              <a:rPr lang="de-AT" sz="1050" dirty="0">
                <a:solidFill>
                  <a:schemeClr val="bg1"/>
                </a:solidFill>
                <a:latin typeface="Arial" panose="020B0604020202020204" pitchFamily="34" charset="0"/>
                <a:cs typeface="Arial" panose="020B0604020202020204" pitchFamily="34" charset="0"/>
              </a:rPr>
              <a:t> I Datenschutz I Impressum I Allgemeine Geschäftsbedingungen</a:t>
            </a:r>
          </a:p>
        </p:txBody>
      </p:sp>
      <p:sp>
        <p:nvSpPr>
          <p:cNvPr id="13" name="Textfeld 12">
            <a:extLst>
              <a:ext uri="{FF2B5EF4-FFF2-40B4-BE49-F238E27FC236}">
                <a16:creationId xmlns:a16="http://schemas.microsoft.com/office/drawing/2014/main" id="{6C89CC3A-E305-2789-9BED-047DADF0F127}"/>
              </a:ext>
            </a:extLst>
          </p:cNvPr>
          <p:cNvSpPr txBox="1"/>
          <p:nvPr/>
        </p:nvSpPr>
        <p:spPr>
          <a:xfrm>
            <a:off x="2944077" y="4846327"/>
            <a:ext cx="7257489" cy="923330"/>
          </a:xfrm>
          <a:prstGeom prst="rect">
            <a:avLst/>
          </a:prstGeom>
          <a:noFill/>
        </p:spPr>
        <p:txBody>
          <a:bodyPr wrap="square" rtlCol="0">
            <a:spAutoFit/>
          </a:bodyPr>
          <a:lstStyle/>
          <a:p>
            <a:pPr algn="just"/>
            <a:r>
              <a:rPr lang="de-AT" sz="5400" b="1" dirty="0" err="1">
                <a:solidFill>
                  <a:schemeClr val="bg1"/>
                </a:solidFill>
                <a:latin typeface="Arial" panose="020B0604020202020204" pitchFamily="34" charset="0"/>
                <a:cs typeface="Arial" panose="020B0604020202020204" pitchFamily="34" charset="0"/>
              </a:rPr>
              <a:t>limits</a:t>
            </a:r>
            <a:r>
              <a:rPr lang="de-AT" sz="5400" b="1" dirty="0">
                <a:solidFill>
                  <a:schemeClr val="bg1"/>
                </a:solidFill>
                <a:latin typeface="Arial" panose="020B0604020202020204" pitchFamily="34" charset="0"/>
                <a:cs typeface="Arial" panose="020B0604020202020204" pitchFamily="34" charset="0"/>
              </a:rPr>
              <a:t> </a:t>
            </a:r>
            <a:r>
              <a:rPr lang="de-AT" sz="5400" b="1" dirty="0" err="1">
                <a:solidFill>
                  <a:schemeClr val="bg1"/>
                </a:solidFill>
                <a:latin typeface="Arial" panose="020B0604020202020204" pitchFamily="34" charset="0"/>
                <a:cs typeface="Arial" panose="020B0604020202020204" pitchFamily="34" charset="0"/>
              </a:rPr>
              <a:t>are</a:t>
            </a:r>
            <a:r>
              <a:rPr lang="de-AT" sz="5400" b="1" dirty="0">
                <a:solidFill>
                  <a:schemeClr val="bg1"/>
                </a:solidFill>
                <a:latin typeface="Arial" panose="020B0604020202020204" pitchFamily="34" charset="0"/>
                <a:cs typeface="Arial" panose="020B0604020202020204" pitchFamily="34" charset="0"/>
              </a:rPr>
              <a:t> a </a:t>
            </a:r>
            <a:r>
              <a:rPr lang="de-AT" sz="5400" b="1" dirty="0" err="1">
                <a:solidFill>
                  <a:schemeClr val="bg1"/>
                </a:solidFill>
                <a:latin typeface="Arial" panose="020B0604020202020204" pitchFamily="34" charset="0"/>
                <a:cs typeface="Arial" panose="020B0604020202020204" pitchFamily="34" charset="0"/>
              </a:rPr>
              <a:t>mindset</a:t>
            </a:r>
            <a:endParaRPr lang="de-AT" sz="5400" b="1" dirty="0">
              <a:solidFill>
                <a:schemeClr val="bg1"/>
              </a:solidFill>
              <a:latin typeface="Arial" panose="020B0604020202020204" pitchFamily="34" charset="0"/>
              <a:cs typeface="Arial" panose="020B0604020202020204" pitchFamily="34" charset="0"/>
            </a:endParaRPr>
          </a:p>
        </p:txBody>
      </p:sp>
      <p:sp>
        <p:nvSpPr>
          <p:cNvPr id="5" name="Textfeld 4">
            <a:extLst>
              <a:ext uri="{FF2B5EF4-FFF2-40B4-BE49-F238E27FC236}">
                <a16:creationId xmlns:a16="http://schemas.microsoft.com/office/drawing/2014/main" id="{DC9DA3B6-B141-2126-51DE-74E0F51F9D0F}"/>
              </a:ext>
            </a:extLst>
          </p:cNvPr>
          <p:cNvSpPr txBox="1"/>
          <p:nvPr/>
        </p:nvSpPr>
        <p:spPr>
          <a:xfrm>
            <a:off x="4428710"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Unternehmen</a:t>
            </a:r>
          </a:p>
        </p:txBody>
      </p:sp>
      <p:sp>
        <p:nvSpPr>
          <p:cNvPr id="10" name="Textfeld 9">
            <a:extLst>
              <a:ext uri="{FF2B5EF4-FFF2-40B4-BE49-F238E27FC236}">
                <a16:creationId xmlns:a16="http://schemas.microsoft.com/office/drawing/2014/main" id="{3A61F108-4F0C-379F-FFCC-6AC54435F78C}"/>
              </a:ext>
            </a:extLst>
          </p:cNvPr>
          <p:cNvSpPr txBox="1"/>
          <p:nvPr/>
        </p:nvSpPr>
        <p:spPr>
          <a:xfrm>
            <a:off x="6146735" y="448700"/>
            <a:ext cx="1587761" cy="369332"/>
          </a:xfrm>
          <a:prstGeom prst="rect">
            <a:avLst/>
          </a:prstGeom>
          <a:noFill/>
        </p:spPr>
        <p:txBody>
          <a:bodyPr wrap="square" rtlCol="0">
            <a:spAutoFit/>
          </a:bodyPr>
          <a:lstStyle/>
          <a:p>
            <a:pPr algn="just">
              <a:spcBef>
                <a:spcPts val="1200"/>
              </a:spcBef>
            </a:pPr>
            <a:r>
              <a:rPr lang="de-DE" sz="1800" dirty="0">
                <a:solidFill>
                  <a:srgbClr val="FFFFFF"/>
                </a:solidFill>
              </a:rPr>
              <a:t>Produkte</a:t>
            </a:r>
          </a:p>
        </p:txBody>
      </p:sp>
      <p:sp>
        <p:nvSpPr>
          <p:cNvPr id="14" name="Textfeld 13">
            <a:extLst>
              <a:ext uri="{FF2B5EF4-FFF2-40B4-BE49-F238E27FC236}">
                <a16:creationId xmlns:a16="http://schemas.microsoft.com/office/drawing/2014/main" id="{78D058F2-5D4A-A82E-7193-5813D6DAA9CC}"/>
              </a:ext>
            </a:extLst>
          </p:cNvPr>
          <p:cNvSpPr txBox="1"/>
          <p:nvPr/>
        </p:nvSpPr>
        <p:spPr>
          <a:xfrm>
            <a:off x="7429877" y="44106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Karriere</a:t>
            </a:r>
          </a:p>
        </p:txBody>
      </p:sp>
      <p:sp>
        <p:nvSpPr>
          <p:cNvPr id="15" name="Textfeld 14">
            <a:extLst>
              <a:ext uri="{FF2B5EF4-FFF2-40B4-BE49-F238E27FC236}">
                <a16:creationId xmlns:a16="http://schemas.microsoft.com/office/drawing/2014/main" id="{8D1855C3-3147-791B-6DC3-E3968516D77D}"/>
              </a:ext>
            </a:extLst>
          </p:cNvPr>
          <p:cNvSpPr txBox="1"/>
          <p:nvPr/>
        </p:nvSpPr>
        <p:spPr>
          <a:xfrm>
            <a:off x="8586862" y="451553"/>
            <a:ext cx="1587761" cy="369332"/>
          </a:xfrm>
          <a:prstGeom prst="rect">
            <a:avLst/>
          </a:prstGeom>
          <a:noFill/>
        </p:spPr>
        <p:txBody>
          <a:bodyPr wrap="square" rtlCol="0">
            <a:spAutoFit/>
          </a:bodyPr>
          <a:lstStyle/>
          <a:p>
            <a:pPr algn="just">
              <a:spcBef>
                <a:spcPts val="1200"/>
              </a:spcBef>
            </a:pPr>
            <a:r>
              <a:rPr lang="de-DE" sz="1800" dirty="0">
                <a:solidFill>
                  <a:srgbClr val="FFFFFF"/>
                </a:solidFill>
              </a:rPr>
              <a:t>Kontakt</a:t>
            </a:r>
          </a:p>
        </p:txBody>
      </p:sp>
      <p:pic>
        <p:nvPicPr>
          <p:cNvPr id="16" name="Grafik 15" descr="Ein Bild, das Flagge, rot, Karminrot, Symbol enthält.&#10;&#10;KI-generierte Inhalte können fehlerhaft sein.">
            <a:extLst>
              <a:ext uri="{FF2B5EF4-FFF2-40B4-BE49-F238E27FC236}">
                <a16:creationId xmlns:a16="http://schemas.microsoft.com/office/drawing/2014/main" id="{BE62835C-3395-86AD-449B-2B0BBDF38284}"/>
              </a:ext>
            </a:extLst>
          </p:cNvPr>
          <p:cNvPicPr>
            <a:picLocks noChangeAspect="1"/>
          </p:cNvPicPr>
          <p:nvPr/>
        </p:nvPicPr>
        <p:blipFill>
          <a:blip r:embed="rId7"/>
          <a:stretch>
            <a:fillRect/>
          </a:stretch>
        </p:blipFill>
        <p:spPr>
          <a:xfrm flipH="1">
            <a:off x="11261809" y="507102"/>
            <a:ext cx="331953" cy="216767"/>
          </a:xfrm>
          <a:prstGeom prst="rect">
            <a:avLst/>
          </a:prstGeom>
        </p:spPr>
      </p:pic>
      <p:sp>
        <p:nvSpPr>
          <p:cNvPr id="17" name="Textfeld 16">
            <a:extLst>
              <a:ext uri="{FF2B5EF4-FFF2-40B4-BE49-F238E27FC236}">
                <a16:creationId xmlns:a16="http://schemas.microsoft.com/office/drawing/2014/main" id="{6316E77E-4491-1E66-26EF-126607154375}"/>
              </a:ext>
            </a:extLst>
          </p:cNvPr>
          <p:cNvSpPr txBox="1"/>
          <p:nvPr/>
        </p:nvSpPr>
        <p:spPr>
          <a:xfrm>
            <a:off x="9811518" y="457258"/>
            <a:ext cx="1587761" cy="369332"/>
          </a:xfrm>
          <a:prstGeom prst="rect">
            <a:avLst/>
          </a:prstGeom>
          <a:noFill/>
        </p:spPr>
        <p:txBody>
          <a:bodyPr wrap="square" rtlCol="0">
            <a:spAutoFit/>
          </a:bodyPr>
          <a:lstStyle/>
          <a:p>
            <a:pPr algn="just">
              <a:spcBef>
                <a:spcPts val="1200"/>
              </a:spcBef>
            </a:pPr>
            <a:r>
              <a:rPr lang="de-DE" sz="1800" dirty="0">
                <a:solidFill>
                  <a:srgbClr val="FFFFFF"/>
                </a:solidFill>
              </a:rPr>
              <a:t>Download</a:t>
            </a:r>
          </a:p>
        </p:txBody>
      </p:sp>
    </p:spTree>
    <p:extLst>
      <p:ext uri="{BB962C8B-B14F-4D97-AF65-F5344CB8AC3E}">
        <p14:creationId xmlns:p14="http://schemas.microsoft.com/office/powerpoint/2010/main" val="4147438243"/>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theme/theme1.xml><?xml version="1.0" encoding="utf-8"?>
<a:theme xmlns:a="http://schemas.openxmlformats.org/drawingml/2006/main" name="Master Trinity H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BO_Trinity_GmbH_II_de.potx" id="{366E3630-B22C-4E3D-9747-5BF531C635D7}" vid="{A13D97C2-B7B5-48B2-9998-D663CCBE7394}"/>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MBO_Trinity_GmbH_II_de</Template>
  <TotalTime>0</TotalTime>
  <Words>342</Words>
  <Application>Microsoft Office PowerPoint</Application>
  <PresentationFormat>Breitbild</PresentationFormat>
  <Paragraphs>45</Paragraphs>
  <Slides>4</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Arial</vt:lpstr>
      <vt:lpstr>Calibri</vt:lpstr>
      <vt:lpstr>Wingdings</vt:lpstr>
      <vt:lpstr>Master Trinity HP</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 MBO Services GmbH</dc:creator>
  <cp:lastModifiedBy>Office MBO Services GmbH</cp:lastModifiedBy>
  <cp:revision>23</cp:revision>
  <dcterms:created xsi:type="dcterms:W3CDTF">2025-05-08T11:48:37Z</dcterms:created>
  <dcterms:modified xsi:type="dcterms:W3CDTF">2026-01-13T12:26:57Z</dcterms:modified>
</cp:coreProperties>
</file>