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45" r:id="rId2"/>
    <p:sldId id="366" r:id="rId3"/>
    <p:sldId id="364" r:id="rId4"/>
    <p:sldId id="367" r:id="rId5"/>
    <p:sldId id="365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  <a:srgbClr val="0A172B"/>
    <a:srgbClr val="1A1F30"/>
    <a:srgbClr val="007AFF"/>
    <a:srgbClr val="0D0761"/>
    <a:srgbClr val="030755"/>
    <a:srgbClr val="15254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2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3047C-664C-4371-9230-C778BB589073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8C9C3-9551-4717-9CB1-D5CC99D644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16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32003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E4698-AAB1-64CC-5F81-5605B25B8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FF1D4D-48F5-4A50-370D-88D8E3EA4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581143-8ABD-7655-0942-A6DCCF9EF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604C12-2E61-A479-3FC2-4412A2ABF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87790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20F54-A560-FB41-2CF7-30334C03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709B171-472C-4F07-907B-C0FF0F0DC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7A7F202-43C5-FFE9-61FB-91D68F9EC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801E8C-900F-E472-5D23-7DE04D7F5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34242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3ADF2-4231-0A80-8C8A-C473BD7DF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9295A9B-E80C-9E54-0B8E-8623CFBDF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A3075AE-FD40-6019-5930-9B42F52EB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48AE99-2865-4859-3B03-308E1B9D39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14999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79F5-02BC-9927-610D-E478D267C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AB027E5-EE70-A3FD-9FBE-A491F5FEE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04C25AF-2DD6-8080-2401-145387A01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77870C-B84D-C671-0903-C9F3C61C8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6938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7A2D8C-43A2-5798-8968-5CFD89D1A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065316"/>
            <a:ext cx="10795820" cy="53018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78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32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mailto:office@mbo-trinity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mailto:office@mbo-trinity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mailto:office@mbo-trinity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office@mbo-trinity.com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BD2693E-2775-8FFB-F8E8-740252561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F0541F8-EA5A-F843-516F-87DD600B2588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2FAC60C-43FF-B5B1-B0FF-4B57D13DC741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AE5A00D-F6BF-FB43-484E-20AC764BDCCC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C47053-32FB-D9EA-11BB-7761DCB8628A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21" name="Grafik 20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FBD8890F-A326-C8EF-4668-C02F7EC5D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E5A39E5C-3A32-E174-E85F-6F8C444AB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23" y="2062246"/>
            <a:ext cx="4853370" cy="1694288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F47B1A59-AA77-880F-57DC-BFB2C6143F12}"/>
              </a:ext>
            </a:extLst>
          </p:cNvPr>
          <p:cNvSpPr txBox="1"/>
          <p:nvPr/>
        </p:nvSpPr>
        <p:spPr>
          <a:xfrm>
            <a:off x="3473523" y="3757442"/>
            <a:ext cx="504916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Partner </a:t>
            </a:r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Technological Excellence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6F6A43A6-D01F-34D4-0D43-7BE4D26F7593}"/>
              </a:ext>
            </a:extLst>
          </p:cNvPr>
          <p:cNvCxnSpPr/>
          <p:nvPr/>
        </p:nvCxnSpPr>
        <p:spPr>
          <a:xfrm>
            <a:off x="0" y="1545996"/>
            <a:ext cx="12192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A6D45A8B-78E5-AC2E-B26A-CC96E5C3DBF0}"/>
              </a:ext>
            </a:extLst>
          </p:cNvPr>
          <p:cNvCxnSpPr>
            <a:cxnSpLocks/>
          </p:cNvCxnSpPr>
          <p:nvPr/>
        </p:nvCxnSpPr>
        <p:spPr>
          <a:xfrm>
            <a:off x="-97896" y="4658413"/>
            <a:ext cx="1228989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8D0613E0-9B4F-789B-D44A-AFE036ADAD49}"/>
              </a:ext>
            </a:extLst>
          </p:cNvPr>
          <p:cNvSpPr txBox="1"/>
          <p:nvPr/>
        </p:nvSpPr>
        <p:spPr>
          <a:xfrm>
            <a:off x="10302322" y="1578920"/>
            <a:ext cx="1587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 err="1">
                <a:solidFill>
                  <a:srgbClr val="FFFF00"/>
                </a:solidFill>
              </a:rPr>
              <a:t>Blidbereich</a:t>
            </a:r>
            <a:r>
              <a:rPr lang="de-DE" sz="1000" dirty="0">
                <a:solidFill>
                  <a:srgbClr val="FFFF00"/>
                </a:solidFill>
              </a:rPr>
              <a:t> / Fotoserie 3.1</a:t>
            </a:r>
          </a:p>
        </p:txBody>
      </p:sp>
      <p:sp>
        <p:nvSpPr>
          <p:cNvPr id="36" name="Flussdiagramm: Prozess 35">
            <a:extLst>
              <a:ext uri="{FF2B5EF4-FFF2-40B4-BE49-F238E27FC236}">
                <a16:creationId xmlns:a16="http://schemas.microsoft.com/office/drawing/2014/main" id="{E2836311-1C93-9DBA-87B0-B4513AD8AF34}"/>
              </a:ext>
            </a:extLst>
          </p:cNvPr>
          <p:cNvSpPr/>
          <p:nvPr/>
        </p:nvSpPr>
        <p:spPr>
          <a:xfrm>
            <a:off x="754144" y="2552313"/>
            <a:ext cx="2303818" cy="652014"/>
          </a:xfrm>
          <a:prstGeom prst="flowChartProcess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77101421-7978-8C98-709F-AFA01AA5F359}"/>
              </a:ext>
            </a:extLst>
          </p:cNvPr>
          <p:cNvSpPr txBox="1"/>
          <p:nvPr/>
        </p:nvSpPr>
        <p:spPr>
          <a:xfrm>
            <a:off x="1024036" y="2753637"/>
            <a:ext cx="1587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>
                <a:solidFill>
                  <a:srgbClr val="FFFF00"/>
                </a:solidFill>
              </a:rPr>
              <a:t>Textserie 3.1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B256F63-C568-C653-D832-C27A5772F550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</p:spTree>
    <p:extLst>
      <p:ext uri="{BB962C8B-B14F-4D97-AF65-F5344CB8AC3E}">
        <p14:creationId xmlns:p14="http://schemas.microsoft.com/office/powerpoint/2010/main" val="213709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FC33-B781-7AD5-2500-49FC7AFE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071553AB-0045-7029-4EE3-D74EED37A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AEB33EE7-9CF3-C017-40A4-486D23A966FC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BCA6B56-D235-81BC-076A-61EF7EC89B4E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5BAB4B1-3FC1-5B03-6F4E-E2746E753BA0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BEFC97D-A850-730D-BB1A-CE8A5F3DD31B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2735DD-1C0B-C486-BA37-FD6E3383A871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A6FF9B82-8B9B-F275-502C-6BE9063B0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7C653B40-2815-5798-47C7-1AB84F306A4B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83EACCC-1EC2-36FF-D9C6-C8802841F690}"/>
              </a:ext>
            </a:extLst>
          </p:cNvPr>
          <p:cNvSpPr txBox="1"/>
          <p:nvPr/>
        </p:nvSpPr>
        <p:spPr>
          <a:xfrm>
            <a:off x="705853" y="1531594"/>
            <a:ext cx="10948735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DE" dirty="0">
                <a:solidFill>
                  <a:schemeClr val="bg1"/>
                </a:solidFill>
              </a:rPr>
              <a:t>Die MBO Trinity GmbH plant und errichtet Reinräume unter Einhaltung der Reinraumstandards nach ISO 14644-1.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</a:rPr>
              <a:t>Wir integrieren Reinräume in Bestandsgebäude oder planen und errichten neue </a:t>
            </a:r>
            <a:r>
              <a:rPr lang="de-AT" dirty="0" err="1">
                <a:solidFill>
                  <a:schemeClr val="bg1"/>
                </a:solidFill>
              </a:rPr>
              <a:t>Reinraumumsysteme</a:t>
            </a:r>
            <a:r>
              <a:rPr lang="de-AT" dirty="0">
                <a:solidFill>
                  <a:schemeClr val="bg1"/>
                </a:solidFill>
              </a:rPr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</a:rPr>
              <a:t>Dabei realisieren wir hoch komplexeste Hightech-Reinraumsysteme z.B. mit vollflächigem </a:t>
            </a:r>
            <a:r>
              <a:rPr lang="de-AT" dirty="0" err="1">
                <a:solidFill>
                  <a:schemeClr val="bg1"/>
                </a:solidFill>
              </a:rPr>
              <a:t>Laminarflow</a:t>
            </a:r>
            <a:r>
              <a:rPr lang="de-AT" dirty="0">
                <a:solidFill>
                  <a:schemeClr val="bg1"/>
                </a:solidFill>
              </a:rPr>
              <a:t> mit Unterdruckplenum, CG-Verteilern, Doppelboden und Rückluftschächten mit integrierter Mu-</a:t>
            </a:r>
            <a:r>
              <a:rPr lang="de-AT" dirty="0" err="1">
                <a:solidFill>
                  <a:schemeClr val="bg1"/>
                </a:solidFill>
              </a:rPr>
              <a:t>Matallkammer</a:t>
            </a:r>
            <a:r>
              <a:rPr lang="de-AT" dirty="0">
                <a:solidFill>
                  <a:schemeClr val="bg1"/>
                </a:solidFill>
              </a:rPr>
              <a:t>, etc.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</a:rPr>
              <a:t>Unsre Leistungen umspannen dabei auch die komplette Reinraumausstattung wie z.B.: die Medienversorgung, Maschinenfundamente, </a:t>
            </a:r>
            <a:r>
              <a:rPr lang="de-AT" dirty="0" err="1">
                <a:solidFill>
                  <a:schemeClr val="bg1"/>
                </a:solidFill>
              </a:rPr>
              <a:t>Exhaust</a:t>
            </a:r>
            <a:r>
              <a:rPr lang="de-AT" dirty="0">
                <a:solidFill>
                  <a:schemeClr val="bg1"/>
                </a:solidFill>
              </a:rPr>
              <a:t>-Systeme, Systeme zur Schwingungsentkopplung, die elektrische Anlage, Systeme für den Brandschutz, Maßnahmen des Explosionsschutzes, Gaswarnanlagen, Krananlagen, Klimatisierung, etc.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</a:rPr>
              <a:t>Insbesondere eine umfassende Planung steht bei allen Projekten im Fokus. Zur detaillierten Planung nutzen wir Software zur Strömungsvisualisierung, FEM-Software und BIM-Systeme zur 3D-Planung.</a:t>
            </a:r>
            <a:endParaRPr lang="en-US" dirty="0">
              <a:solidFill>
                <a:schemeClr val="bg1"/>
              </a:solidFill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05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96B17-028A-5BD5-5CFF-212920CAF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A724DE30-BD18-4A8F-0C95-81F6555BE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03C6B5BE-F3EF-B05D-840D-190DDFCD2401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77C4F5D-AE92-134A-62AD-D7AF62A6CF6B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D3AFA6C-4F49-AB61-644E-AA2B65A2E820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1F40984-76CD-89A2-1151-7D0D4A87EAAF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A45FE68-87C3-2FED-2C12-B7CCC7EB7534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A63BB973-C5B3-DE57-9D70-123257284D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A4E09218-5DD5-346E-E622-73927334B000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E3FB6D4-E7C2-9534-8E88-7797480DC98C}"/>
              </a:ext>
            </a:extLst>
          </p:cNvPr>
          <p:cNvSpPr txBox="1"/>
          <p:nvPr/>
        </p:nvSpPr>
        <p:spPr>
          <a:xfrm>
            <a:off x="705853" y="1531594"/>
            <a:ext cx="1094873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rgbClr val="FFFFFF"/>
                </a:solidFill>
              </a:rPr>
              <a:t>Die Errichtung erfolgt je nach Erfordernis mit unsren qualifizierten Monteuren oder mit unsren Sub-</a:t>
            </a:r>
            <a:r>
              <a:rPr lang="de-AT" dirty="0" err="1">
                <a:solidFill>
                  <a:srgbClr val="FFFFFF"/>
                </a:solidFill>
              </a:rPr>
              <a:t>Contractoren</a:t>
            </a:r>
            <a:r>
              <a:rPr lang="de-AT" dirty="0">
                <a:solidFill>
                  <a:srgbClr val="FFFFFF"/>
                </a:solidFill>
              </a:rPr>
              <a:t>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rgbClr val="FFFFFF"/>
                </a:solidFill>
              </a:rPr>
              <a:t>Dabei legen wir insbesondere Wert auf: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lang="de-DE" kern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Einhaltung der Sicherheits- und Betriebsstandards für Personal und Maschinen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lang="de-DE" kern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Koordination, Standortinspektion, PSA, Arbeitsplatzvorbereitung</a:t>
            </a:r>
            <a:endParaRPr lang="de-AT" kern="1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lang="de-DE" kern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Einhaltung der Budget- und Montagevorgaben sowie der Zeitpläne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lang="de-DE" kern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Validierung der Funktionalität durch alle erforderlichen Tests und Abnahmen (FAT)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lang="de-DE" kern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Übergabe der Anlagen, Dokumentation und Schulung</a:t>
            </a:r>
            <a:endParaRPr lang="de-AT" kern="1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r>
              <a:rPr lang="de-DE" kern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Gewährleistung der einwandfreien Funktion und der Qualitativ hochwertigen Ausführung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DE" kern="1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488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8A437-4DAA-FAB7-12B5-F78520A2D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15CBC2B-876E-8E60-C18A-64017D0DF2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DF38597-2A89-EDA8-F0A5-542B35A2752F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DA915CE-B752-7B52-86E1-2C8961493439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D664D93-FF34-B329-19C4-6F35EB5F6040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D8F6FD2-F70B-3770-A578-2733AFE487A4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2562B45-7604-16B6-0E0C-DD442F165995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49491F76-A0AF-9B23-C48C-5EDD3BD1D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C6C9F5A2-CFAA-BD5A-CFC6-3FF6B9996746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88B6EC0-EC57-FBEA-289D-0B14A6B9EC7B}"/>
              </a:ext>
            </a:extLst>
          </p:cNvPr>
          <p:cNvSpPr txBox="1"/>
          <p:nvPr/>
        </p:nvSpPr>
        <p:spPr>
          <a:xfrm>
            <a:off x="705853" y="1531594"/>
            <a:ext cx="1094873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en-US" dirty="0" err="1">
                <a:solidFill>
                  <a:schemeClr val="bg1"/>
                </a:solidFill>
              </a:rPr>
              <a:t>Spezifikationen</a:t>
            </a:r>
            <a:r>
              <a:rPr lang="en-US" dirty="0">
                <a:solidFill>
                  <a:schemeClr val="bg1"/>
                </a:solidFill>
              </a:rPr>
              <a:t> die </a:t>
            </a:r>
            <a:r>
              <a:rPr lang="en-US" dirty="0" err="1">
                <a:solidFill>
                  <a:schemeClr val="bg1"/>
                </a:solidFill>
              </a:rPr>
              <a:t>unsre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Reinräume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zu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erreichen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haben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sind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z.B.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</a:pPr>
            <a:r>
              <a:rPr lang="de-AT" dirty="0">
                <a:solidFill>
                  <a:srgbClr val="FFFFFF"/>
                </a:solidFill>
              </a:rPr>
              <a:t>Standard </a:t>
            </a:r>
            <a:r>
              <a:rPr lang="de-AT" dirty="0" err="1">
                <a:solidFill>
                  <a:srgbClr val="FFFFFF"/>
                </a:solidFill>
              </a:rPr>
              <a:t>for</a:t>
            </a:r>
            <a:r>
              <a:rPr lang="de-AT" dirty="0">
                <a:solidFill>
                  <a:srgbClr val="FFFFFF"/>
                </a:solidFill>
              </a:rPr>
              <a:t> </a:t>
            </a:r>
            <a:r>
              <a:rPr lang="de-AT" dirty="0" err="1">
                <a:solidFill>
                  <a:srgbClr val="FFFFFF"/>
                </a:solidFill>
              </a:rPr>
              <a:t>main</a:t>
            </a:r>
            <a:r>
              <a:rPr lang="de-AT" dirty="0">
                <a:solidFill>
                  <a:srgbClr val="FFFFFF"/>
                </a:solidFill>
              </a:rPr>
              <a:t> </a:t>
            </a:r>
            <a:r>
              <a:rPr lang="de-AT" dirty="0" err="1">
                <a:solidFill>
                  <a:srgbClr val="FFFFFF"/>
                </a:solidFill>
              </a:rPr>
              <a:t>body</a:t>
            </a:r>
            <a:r>
              <a:rPr lang="de-AT" dirty="0">
                <a:solidFill>
                  <a:srgbClr val="FFFFFF"/>
                </a:solidFill>
              </a:rPr>
              <a:t> </a:t>
            </a:r>
            <a:r>
              <a:rPr lang="de-AT" dirty="0" err="1">
                <a:solidFill>
                  <a:srgbClr val="FFFFFF"/>
                </a:solidFill>
              </a:rPr>
              <a:t>installation</a:t>
            </a:r>
            <a:r>
              <a:rPr lang="de-AT" dirty="0">
                <a:solidFill>
                  <a:srgbClr val="FFFFFF"/>
                </a:solidFill>
              </a:rPr>
              <a:t> </a:t>
            </a:r>
            <a:r>
              <a:rPr lang="de-AT" dirty="0" err="1">
                <a:solidFill>
                  <a:srgbClr val="FFFFFF"/>
                </a:solidFill>
              </a:rPr>
              <a:t>area</a:t>
            </a:r>
            <a:r>
              <a:rPr lang="de-AT" dirty="0">
                <a:solidFill>
                  <a:srgbClr val="FFFFFF"/>
                </a:solidFill>
              </a:rPr>
              <a:t>: ISO 3 (14644-1)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</a:pPr>
            <a:r>
              <a:rPr lang="de-AT" dirty="0" err="1">
                <a:solidFill>
                  <a:srgbClr val="FFFFFF"/>
                </a:solidFill>
              </a:rPr>
              <a:t>Magnetic</a:t>
            </a:r>
            <a:r>
              <a:rPr lang="de-AT" dirty="0">
                <a:solidFill>
                  <a:srgbClr val="FFFFFF"/>
                </a:solidFill>
              </a:rPr>
              <a:t> </a:t>
            </a:r>
            <a:r>
              <a:rPr lang="de-AT" dirty="0" err="1">
                <a:solidFill>
                  <a:srgbClr val="FFFFFF"/>
                </a:solidFill>
              </a:rPr>
              <a:t>field</a:t>
            </a:r>
            <a:r>
              <a:rPr lang="de-AT" dirty="0">
                <a:solidFill>
                  <a:srgbClr val="FFFFFF"/>
                </a:solidFill>
              </a:rPr>
              <a:t> </a:t>
            </a:r>
            <a:r>
              <a:rPr lang="de-AT" dirty="0" err="1">
                <a:solidFill>
                  <a:srgbClr val="FFFFFF"/>
                </a:solidFill>
              </a:rPr>
              <a:t>fluctuation</a:t>
            </a:r>
            <a:r>
              <a:rPr lang="de-AT" dirty="0">
                <a:solidFill>
                  <a:srgbClr val="FFFFFF"/>
                </a:solidFill>
              </a:rPr>
              <a:t> </a:t>
            </a:r>
            <a:r>
              <a:rPr lang="de-AT" dirty="0" err="1">
                <a:solidFill>
                  <a:srgbClr val="FFFFFF"/>
                </a:solidFill>
              </a:rPr>
              <a:t>tolerances</a:t>
            </a:r>
            <a:r>
              <a:rPr lang="de-AT" dirty="0">
                <a:solidFill>
                  <a:srgbClr val="FFFFFF"/>
                </a:solidFill>
              </a:rPr>
              <a:t>: AC ≤ 0.03 µT, DC &lt; 0.03 µT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</a:pPr>
            <a:r>
              <a:rPr lang="de-AT" dirty="0" err="1">
                <a:solidFill>
                  <a:srgbClr val="FFFFFF"/>
                </a:solidFill>
              </a:rPr>
              <a:t>Temperature</a:t>
            </a:r>
            <a:r>
              <a:rPr lang="de-AT" dirty="0">
                <a:solidFill>
                  <a:srgbClr val="FFFFFF"/>
                </a:solidFill>
              </a:rPr>
              <a:t> </a:t>
            </a:r>
            <a:r>
              <a:rPr lang="de-AT" dirty="0" err="1">
                <a:solidFill>
                  <a:srgbClr val="FFFFFF"/>
                </a:solidFill>
              </a:rPr>
              <a:t>stability</a:t>
            </a:r>
            <a:r>
              <a:rPr lang="de-AT" dirty="0">
                <a:solidFill>
                  <a:srgbClr val="FFFFFF"/>
                </a:solidFill>
              </a:rPr>
              <a:t> </a:t>
            </a:r>
            <a:r>
              <a:rPr lang="de-AT" dirty="0" err="1">
                <a:solidFill>
                  <a:srgbClr val="FFFFFF"/>
                </a:solidFill>
              </a:rPr>
              <a:t>of</a:t>
            </a:r>
            <a:r>
              <a:rPr lang="de-AT" dirty="0">
                <a:solidFill>
                  <a:srgbClr val="FFFFFF"/>
                </a:solidFill>
              </a:rPr>
              <a:t> ambient </a:t>
            </a:r>
            <a:r>
              <a:rPr lang="de-AT" dirty="0" err="1">
                <a:solidFill>
                  <a:srgbClr val="FFFFFF"/>
                </a:solidFill>
              </a:rPr>
              <a:t>air</a:t>
            </a:r>
            <a:r>
              <a:rPr lang="de-AT" dirty="0">
                <a:solidFill>
                  <a:srgbClr val="FFFFFF"/>
                </a:solidFill>
              </a:rPr>
              <a:t>: ±20 </a:t>
            </a:r>
            <a:r>
              <a:rPr lang="de-AT" dirty="0" err="1">
                <a:solidFill>
                  <a:srgbClr val="FFFFFF"/>
                </a:solidFill>
              </a:rPr>
              <a:t>mK</a:t>
            </a:r>
            <a:endParaRPr lang="de-AT" dirty="0">
              <a:solidFill>
                <a:srgbClr val="FFFFFF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</a:pPr>
            <a:r>
              <a:rPr lang="de-AT" dirty="0" err="1">
                <a:solidFill>
                  <a:srgbClr val="FFFFFF"/>
                </a:solidFill>
              </a:rPr>
              <a:t>Pressure</a:t>
            </a:r>
            <a:r>
              <a:rPr lang="de-AT" dirty="0">
                <a:solidFill>
                  <a:srgbClr val="FFFFFF"/>
                </a:solidFill>
              </a:rPr>
              <a:t> </a:t>
            </a:r>
            <a:r>
              <a:rPr lang="de-AT" dirty="0" err="1">
                <a:solidFill>
                  <a:srgbClr val="FFFFFF"/>
                </a:solidFill>
              </a:rPr>
              <a:t>stability</a:t>
            </a:r>
            <a:r>
              <a:rPr lang="de-AT" dirty="0">
                <a:solidFill>
                  <a:srgbClr val="FFFFFF"/>
                </a:solidFill>
              </a:rPr>
              <a:t>: ±1 </a:t>
            </a:r>
            <a:r>
              <a:rPr lang="de-AT" dirty="0" err="1">
                <a:solidFill>
                  <a:srgbClr val="FFFFFF"/>
                </a:solidFill>
              </a:rPr>
              <a:t>Pa</a:t>
            </a:r>
            <a:endParaRPr lang="de-AT" dirty="0">
              <a:solidFill>
                <a:srgbClr val="FFFFFF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</a:pPr>
            <a:r>
              <a:rPr lang="de-AT" dirty="0" err="1">
                <a:solidFill>
                  <a:srgbClr val="FFFFFF"/>
                </a:solidFill>
              </a:rPr>
              <a:t>Humidity</a:t>
            </a:r>
            <a:r>
              <a:rPr lang="de-AT" dirty="0">
                <a:solidFill>
                  <a:srgbClr val="FFFFFF"/>
                </a:solidFill>
              </a:rPr>
              <a:t> </a:t>
            </a:r>
            <a:r>
              <a:rPr lang="de-AT" dirty="0" err="1">
                <a:solidFill>
                  <a:srgbClr val="FFFFFF"/>
                </a:solidFill>
              </a:rPr>
              <a:t>stability</a:t>
            </a:r>
            <a:r>
              <a:rPr lang="de-AT" dirty="0">
                <a:solidFill>
                  <a:srgbClr val="FFFFFF"/>
                </a:solidFill>
              </a:rPr>
              <a:t>: ±0.2 %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</a:pPr>
            <a:r>
              <a:rPr lang="de-AT" dirty="0">
                <a:solidFill>
                  <a:srgbClr val="FFFFFF"/>
                </a:solidFill>
              </a:rPr>
              <a:t>Laminar </a:t>
            </a:r>
            <a:r>
              <a:rPr lang="de-AT" dirty="0" err="1">
                <a:solidFill>
                  <a:srgbClr val="FFFFFF"/>
                </a:solidFill>
              </a:rPr>
              <a:t>flow</a:t>
            </a:r>
            <a:r>
              <a:rPr lang="de-AT" dirty="0">
                <a:solidFill>
                  <a:srgbClr val="FFFFFF"/>
                </a:solidFill>
              </a:rPr>
              <a:t> </a:t>
            </a:r>
            <a:r>
              <a:rPr lang="de-AT" dirty="0" err="1">
                <a:solidFill>
                  <a:srgbClr val="FFFFFF"/>
                </a:solidFill>
              </a:rPr>
              <a:t>downwarded</a:t>
            </a:r>
            <a:endParaRPr lang="de-AT" dirty="0">
              <a:solidFill>
                <a:srgbClr val="FFFFFF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</a:pPr>
            <a:r>
              <a:rPr lang="de-AT" dirty="0">
                <a:solidFill>
                  <a:srgbClr val="FFFFFF"/>
                </a:solidFill>
              </a:rPr>
              <a:t>Floor </a:t>
            </a:r>
            <a:r>
              <a:rPr lang="de-AT" dirty="0" err="1">
                <a:solidFill>
                  <a:srgbClr val="FFFFFF"/>
                </a:solidFill>
              </a:rPr>
              <a:t>vibration</a:t>
            </a:r>
            <a:r>
              <a:rPr lang="de-AT" dirty="0">
                <a:solidFill>
                  <a:srgbClr val="FFFFFF"/>
                </a:solidFill>
              </a:rPr>
              <a:t> </a:t>
            </a:r>
            <a:r>
              <a:rPr lang="de-AT" dirty="0" err="1">
                <a:solidFill>
                  <a:srgbClr val="FFFFFF"/>
                </a:solidFill>
              </a:rPr>
              <a:t>criteria</a:t>
            </a:r>
            <a:r>
              <a:rPr lang="de-AT" dirty="0">
                <a:solidFill>
                  <a:srgbClr val="FFFFFF"/>
                </a:solidFill>
              </a:rPr>
              <a:t> ≤ VC-E</a:t>
            </a:r>
            <a:endParaRPr lang="de-DE" kern="1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22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E5772-55D3-0AB9-A032-42FF6AEB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A2363B8-1F2A-30AC-D149-9180C8509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C6DBBA95-4A0C-6AF2-E26D-3BBC3531B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91" y="1562095"/>
            <a:ext cx="2064464" cy="275261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C30C996-0566-54A1-77B1-308D06E76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9827" y="1562095"/>
            <a:ext cx="2302434" cy="298395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C7F06F7-0FAF-3B20-4116-6C3DC9A420C9}"/>
              </a:ext>
            </a:extLst>
          </p:cNvPr>
          <p:cNvSpPr txBox="1"/>
          <p:nvPr/>
        </p:nvSpPr>
        <p:spPr>
          <a:xfrm>
            <a:off x="3710815" y="2199490"/>
            <a:ext cx="485337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2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Steigen Sie ein in die Welt der MBO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Sannen des QR-Codes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Browser (Chrome oder Safari)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Menüführung am Handy folgen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9CE68CD-8814-3694-1779-5E45C635F18B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C89CC3A-E305-2789-9BED-047DADF0F127}"/>
              </a:ext>
            </a:extLst>
          </p:cNvPr>
          <p:cNvSpPr txBox="1"/>
          <p:nvPr/>
        </p:nvSpPr>
        <p:spPr>
          <a:xfrm>
            <a:off x="2944077" y="4846327"/>
            <a:ext cx="7257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limits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mindset</a:t>
            </a:r>
            <a:endParaRPr lang="de-AT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C9DA3B6-B141-2126-51DE-74E0F51F9D0F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A61F108-4F0C-379F-FFCC-6AC54435F78C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8D058F2-5D4A-A82E-7193-5813D6DAA9CC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D1855C3-3147-791B-6DC3-E3968516D77D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BE62835C-3395-86AD-449B-2B0BBDF382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6316E77E-4491-1E66-26EF-126607154375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</p:spTree>
    <p:extLst>
      <p:ext uri="{BB962C8B-B14F-4D97-AF65-F5344CB8AC3E}">
        <p14:creationId xmlns:p14="http://schemas.microsoft.com/office/powerpoint/2010/main" val="414743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theme/theme1.xml><?xml version="1.0" encoding="utf-8"?>
<a:theme xmlns:a="http://schemas.openxmlformats.org/drawingml/2006/main" name="Master Trinity H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BO_Trinity_GmbH_II_de.potx" id="{366E3630-B22C-4E3D-9747-5BF531C635D7}" vid="{A13D97C2-B7B5-48B2-9998-D663CCBE739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MBO_Trinity_GmbH_II_de</Template>
  <TotalTime>0</TotalTime>
  <Words>453</Words>
  <Application>Microsoft Office PowerPoint</Application>
  <PresentationFormat>Breitbild</PresentationFormat>
  <Paragraphs>63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Master Trinity HP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MBO Services GmbH</dc:creator>
  <cp:lastModifiedBy>Office MBO Services GmbH</cp:lastModifiedBy>
  <cp:revision>25</cp:revision>
  <dcterms:created xsi:type="dcterms:W3CDTF">2025-05-08T11:48:37Z</dcterms:created>
  <dcterms:modified xsi:type="dcterms:W3CDTF">2026-01-13T12:25:34Z</dcterms:modified>
</cp:coreProperties>
</file>