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345" r:id="rId2"/>
    <p:sldId id="366" r:id="rId3"/>
    <p:sldId id="365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82F6"/>
    <a:srgbClr val="0A172B"/>
    <a:srgbClr val="1A1F30"/>
    <a:srgbClr val="007AFF"/>
    <a:srgbClr val="0D0761"/>
    <a:srgbClr val="030755"/>
    <a:srgbClr val="15254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3047C-664C-4371-9230-C778BB589073}" type="datetimeFigureOut">
              <a:rPr lang="de-DE" smtClean="0"/>
              <a:t>13.01.2026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98C9C3-9551-4717-9CB1-D5CC99D644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169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32003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E4698-AAB1-64CC-5F81-5605B25B8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AFF1D4D-48F5-4A50-370D-88D8E3EA4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4581143-8ABD-7655-0942-A6DCCF9EF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604C12-2E61-A479-3FC2-4412A2ABF2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87790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079F5-02BC-9927-610D-E478D267C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AB027E5-EE70-A3FD-9FBE-A491F5FEE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04C25AF-2DD6-8080-2401-145387A01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B77870C-B84D-C671-0903-C9F3C61C8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76938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7A2D8C-43A2-5798-8968-5CFD89D1A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90" y="1065316"/>
            <a:ext cx="10795820" cy="53018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787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0323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mailto:office@mbo-trinity.co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office@mbo-trinity.com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6BD2693E-2775-8FFB-F8E8-740252561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F0541F8-EA5A-F843-516F-87DD600B2588}"/>
              </a:ext>
            </a:extLst>
          </p:cNvPr>
          <p:cNvSpPr txBox="1"/>
          <p:nvPr/>
        </p:nvSpPr>
        <p:spPr>
          <a:xfrm>
            <a:off x="4428710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2FAC60C-43FF-B5B1-B0FF-4B57D13DC741}"/>
              </a:ext>
            </a:extLst>
          </p:cNvPr>
          <p:cNvSpPr txBox="1"/>
          <p:nvPr/>
        </p:nvSpPr>
        <p:spPr>
          <a:xfrm>
            <a:off x="6146735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AE5A00D-F6BF-FB43-484E-20AC764BDCCC}"/>
              </a:ext>
            </a:extLst>
          </p:cNvPr>
          <p:cNvSpPr txBox="1"/>
          <p:nvPr/>
        </p:nvSpPr>
        <p:spPr>
          <a:xfrm>
            <a:off x="7429877" y="44106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8C47053-32FB-D9EA-11BB-7761DCB8628A}"/>
              </a:ext>
            </a:extLst>
          </p:cNvPr>
          <p:cNvSpPr txBox="1"/>
          <p:nvPr/>
        </p:nvSpPr>
        <p:spPr>
          <a:xfrm>
            <a:off x="8586862" y="45155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21" name="Grafik 20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FBD8890F-A326-C8EF-4668-C02F7EC5D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1261809" y="507102"/>
            <a:ext cx="331953" cy="216767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E5A39E5C-3A32-E174-E85F-6F8C444ABB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523" y="2062246"/>
            <a:ext cx="4853370" cy="1694288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F47B1A59-AA77-880F-57DC-BFB2C6143F12}"/>
              </a:ext>
            </a:extLst>
          </p:cNvPr>
          <p:cNvSpPr txBox="1"/>
          <p:nvPr/>
        </p:nvSpPr>
        <p:spPr>
          <a:xfrm>
            <a:off x="3473523" y="3757442"/>
            <a:ext cx="504916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185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de-AT" sz="18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Partner </a:t>
            </a:r>
            <a:r>
              <a:rPr lang="de-AT" sz="185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AT" sz="18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Technological Excellence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6F6A43A6-D01F-34D4-0D43-7BE4D26F7593}"/>
              </a:ext>
            </a:extLst>
          </p:cNvPr>
          <p:cNvCxnSpPr/>
          <p:nvPr/>
        </p:nvCxnSpPr>
        <p:spPr>
          <a:xfrm>
            <a:off x="0" y="1545996"/>
            <a:ext cx="121920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A6D45A8B-78E5-AC2E-B26A-CC96E5C3DBF0}"/>
              </a:ext>
            </a:extLst>
          </p:cNvPr>
          <p:cNvCxnSpPr>
            <a:cxnSpLocks/>
          </p:cNvCxnSpPr>
          <p:nvPr/>
        </p:nvCxnSpPr>
        <p:spPr>
          <a:xfrm>
            <a:off x="-97896" y="4658413"/>
            <a:ext cx="12289896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8D0613E0-9B4F-789B-D44A-AFE036ADAD49}"/>
              </a:ext>
            </a:extLst>
          </p:cNvPr>
          <p:cNvSpPr txBox="1"/>
          <p:nvPr/>
        </p:nvSpPr>
        <p:spPr>
          <a:xfrm>
            <a:off x="10302322" y="1578920"/>
            <a:ext cx="15877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000" dirty="0" err="1">
                <a:solidFill>
                  <a:srgbClr val="FFFF00"/>
                </a:solidFill>
              </a:rPr>
              <a:t>Blidbereich</a:t>
            </a:r>
            <a:r>
              <a:rPr lang="de-DE" sz="1000" dirty="0">
                <a:solidFill>
                  <a:srgbClr val="FFFF00"/>
                </a:solidFill>
              </a:rPr>
              <a:t> / Fotoserie 3.4</a:t>
            </a:r>
          </a:p>
        </p:txBody>
      </p:sp>
      <p:sp>
        <p:nvSpPr>
          <p:cNvPr id="36" name="Flussdiagramm: Prozess 35">
            <a:extLst>
              <a:ext uri="{FF2B5EF4-FFF2-40B4-BE49-F238E27FC236}">
                <a16:creationId xmlns:a16="http://schemas.microsoft.com/office/drawing/2014/main" id="{E2836311-1C93-9DBA-87B0-B4513AD8AF34}"/>
              </a:ext>
            </a:extLst>
          </p:cNvPr>
          <p:cNvSpPr/>
          <p:nvPr/>
        </p:nvSpPr>
        <p:spPr>
          <a:xfrm>
            <a:off x="754144" y="2552313"/>
            <a:ext cx="2303818" cy="652014"/>
          </a:xfrm>
          <a:prstGeom prst="flowChartProcess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77101421-7978-8C98-709F-AFA01AA5F359}"/>
              </a:ext>
            </a:extLst>
          </p:cNvPr>
          <p:cNvSpPr txBox="1"/>
          <p:nvPr/>
        </p:nvSpPr>
        <p:spPr>
          <a:xfrm>
            <a:off x="1024036" y="2753637"/>
            <a:ext cx="15877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000" dirty="0">
                <a:solidFill>
                  <a:srgbClr val="FFFF00"/>
                </a:solidFill>
              </a:rPr>
              <a:t>Textserie 3.4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4B256F63-C568-C653-D832-C27A5772F550}"/>
              </a:ext>
            </a:extLst>
          </p:cNvPr>
          <p:cNvSpPr txBox="1"/>
          <p:nvPr/>
        </p:nvSpPr>
        <p:spPr>
          <a:xfrm>
            <a:off x="9811518" y="457258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Download</a:t>
            </a: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C90B9168-FC06-D63E-34C6-8670F5A0FC1A}"/>
              </a:ext>
            </a:extLst>
          </p:cNvPr>
          <p:cNvSpPr/>
          <p:nvPr/>
        </p:nvSpPr>
        <p:spPr>
          <a:xfrm>
            <a:off x="6666442" y="4421171"/>
            <a:ext cx="4498042" cy="1781665"/>
          </a:xfrm>
          <a:prstGeom prst="roundRect">
            <a:avLst/>
          </a:prstGeom>
          <a:solidFill>
            <a:srgbClr val="1A1F30"/>
          </a:solidFill>
          <a:ln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6783DE3-5EC7-42A0-806F-7E93FA90D19B}"/>
              </a:ext>
            </a:extLst>
          </p:cNvPr>
          <p:cNvSpPr txBox="1"/>
          <p:nvPr/>
        </p:nvSpPr>
        <p:spPr>
          <a:xfrm>
            <a:off x="6811587" y="4473746"/>
            <a:ext cx="3944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Cooling Tower 2.0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53034A1-93EE-5766-0315-C77C7BC87F33}"/>
              </a:ext>
            </a:extLst>
          </p:cNvPr>
          <p:cNvSpPr txBox="1"/>
          <p:nvPr/>
        </p:nvSpPr>
        <p:spPr>
          <a:xfrm>
            <a:off x="6811587" y="4774552"/>
            <a:ext cx="42077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1400" dirty="0">
                <a:solidFill>
                  <a:schemeClr val="bg1"/>
                </a:solidFill>
              </a:rPr>
              <a:t>Der Cooling Tower CT 2.0 als Liquid-</a:t>
            </a:r>
            <a:r>
              <a:rPr lang="de-AT" sz="1400" dirty="0" err="1">
                <a:solidFill>
                  <a:schemeClr val="bg1"/>
                </a:solidFill>
              </a:rPr>
              <a:t>to</a:t>
            </a:r>
            <a:r>
              <a:rPr lang="de-AT" sz="1400" dirty="0">
                <a:solidFill>
                  <a:schemeClr val="bg1"/>
                </a:solidFill>
              </a:rPr>
              <a:t>-Liquid-Prozessthermostat dient als Prozesskühlung für Anlagen mit höchster Anforderung an Temper-</a:t>
            </a:r>
            <a:r>
              <a:rPr lang="de-AT" sz="1400" dirty="0" err="1">
                <a:solidFill>
                  <a:schemeClr val="bg1"/>
                </a:solidFill>
              </a:rPr>
              <a:t>aturstabilität</a:t>
            </a:r>
            <a:r>
              <a:rPr lang="de-AT" sz="1400" dirty="0">
                <a:solidFill>
                  <a:schemeClr val="bg1"/>
                </a:solidFill>
              </a:rPr>
              <a:t>, definierten Volumenstrom, stabilen Druck und Versorgungssicherheit mit einer abgeführten Wärmemenge von bis zu 800 kW.</a:t>
            </a:r>
          </a:p>
        </p:txBody>
      </p:sp>
    </p:spTree>
    <p:extLst>
      <p:ext uri="{BB962C8B-B14F-4D97-AF65-F5344CB8AC3E}">
        <p14:creationId xmlns:p14="http://schemas.microsoft.com/office/powerpoint/2010/main" val="2137090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FFC33-B781-7AD5-2500-49FC7AFE6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071553AB-0045-7029-4EE3-D74EED37A1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AEB33EE7-9CF3-C017-40A4-486D23A966FC}"/>
              </a:ext>
            </a:extLst>
          </p:cNvPr>
          <p:cNvSpPr txBox="1">
            <a:spLocks/>
          </p:cNvSpPr>
          <p:nvPr/>
        </p:nvSpPr>
        <p:spPr>
          <a:xfrm>
            <a:off x="906276" y="6298870"/>
            <a:ext cx="1044359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9864725" algn="r"/>
              </a:tabLst>
            </a:pP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MBO Trinity GmbH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mail: </a:t>
            </a:r>
            <a:r>
              <a:rPr lang="de-AT" altLang="de-DE" sz="1050" u="sng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office@mbo-trinity.com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 </a:t>
            </a:r>
            <a:r>
              <a:rPr lang="de-AT" altLang="de-DE" sz="1050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tel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+43 502044-0	   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mbo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trinity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gmbh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Datenschutz I Impressum I Allgemeine Geschäftsbedingungen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BCA6B56-D235-81BC-076A-61EF7EC89B4E}"/>
              </a:ext>
            </a:extLst>
          </p:cNvPr>
          <p:cNvSpPr txBox="1"/>
          <p:nvPr/>
        </p:nvSpPr>
        <p:spPr>
          <a:xfrm>
            <a:off x="4428710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5BAB4B1-3FC1-5B03-6F4E-E2746E753BA0}"/>
              </a:ext>
            </a:extLst>
          </p:cNvPr>
          <p:cNvSpPr txBox="1"/>
          <p:nvPr/>
        </p:nvSpPr>
        <p:spPr>
          <a:xfrm>
            <a:off x="6146735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BEFC97D-A850-730D-BB1A-CE8A5F3DD31B}"/>
              </a:ext>
            </a:extLst>
          </p:cNvPr>
          <p:cNvSpPr txBox="1"/>
          <p:nvPr/>
        </p:nvSpPr>
        <p:spPr>
          <a:xfrm>
            <a:off x="7429877" y="44106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92735DD-1C0B-C486-BA37-FD6E3383A871}"/>
              </a:ext>
            </a:extLst>
          </p:cNvPr>
          <p:cNvSpPr txBox="1"/>
          <p:nvPr/>
        </p:nvSpPr>
        <p:spPr>
          <a:xfrm>
            <a:off x="8586862" y="45155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16" name="Grafik 15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A6FF9B82-8B9B-F275-502C-6BE9063B0D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1261809" y="507102"/>
            <a:ext cx="331953" cy="216767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7C653B40-2815-5798-47C7-1AB84F306A4B}"/>
              </a:ext>
            </a:extLst>
          </p:cNvPr>
          <p:cNvSpPr txBox="1"/>
          <p:nvPr/>
        </p:nvSpPr>
        <p:spPr>
          <a:xfrm>
            <a:off x="9811518" y="457258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Download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83EACCC-1EC2-36FF-D9C6-C8802841F690}"/>
              </a:ext>
            </a:extLst>
          </p:cNvPr>
          <p:cNvSpPr txBox="1"/>
          <p:nvPr/>
        </p:nvSpPr>
        <p:spPr>
          <a:xfrm>
            <a:off x="449128" y="1154795"/>
            <a:ext cx="1138994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r>
              <a:rPr lang="de-D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 MBO Trinity GmbH baut und integriert hochpräzise </a:t>
            </a: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Liquid-</a:t>
            </a:r>
            <a:r>
              <a:rPr lang="de-AT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-Liquid-Prozessthermostate</a:t>
            </a:r>
            <a:r>
              <a:rPr lang="de-D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und Kühlsysteme zur Kühlung von hochsensiblen Anlagen wie z.B.: </a:t>
            </a: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MBMW-Tools, </a:t>
            </a:r>
            <a:r>
              <a:rPr lang="de-AT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Photomask</a:t>
            </a: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Development Systems, </a:t>
            </a:r>
            <a:r>
              <a:rPr lang="de-AT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Sputtering</a:t>
            </a: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Tools, Scanning </a:t>
            </a:r>
            <a:r>
              <a:rPr lang="de-AT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Electron</a:t>
            </a: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Microscopes</a:t>
            </a: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Test </a:t>
            </a:r>
            <a:r>
              <a:rPr lang="de-AT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Benches</a:t>
            </a: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usw.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 Kühlsysteme und Prozessthermostate sind für höchste Versorgungssicherheit und für die Einhaltung engster Spezifikationen konzipiert.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 Liquid-</a:t>
            </a:r>
            <a:r>
              <a:rPr lang="de-AT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-Liquid-Prozessthermostate und Kühlsysteme dienen als Prozesskühlung für Anlagen mit höchster Anforderung an Temperaturstabilität, regelbaren Volumenstrom und stabilen Druck.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 Kühlsysteme sind  für die Einhaltung einer konstanten Vorlauftemperatur mit einer Temperaturstabilität von ± 0,2 K konzipiert.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Planung und Errichtung von individuell auf Ihre Anforderung abgestimmte Liquid-</a:t>
            </a:r>
            <a:r>
              <a:rPr lang="de-AT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-Liquid-Prozessthermostaten und Kühlsysteme.</a:t>
            </a:r>
          </a:p>
        </p:txBody>
      </p:sp>
    </p:spTree>
    <p:extLst>
      <p:ext uri="{BB962C8B-B14F-4D97-AF65-F5344CB8AC3E}">
        <p14:creationId xmlns:p14="http://schemas.microsoft.com/office/powerpoint/2010/main" val="139205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E5772-55D3-0AB9-A032-42FF6AEB2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8A2363B8-1F2A-30AC-D149-9180C85096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C6DBBA95-4A0C-6AF2-E26D-3BBC3531B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91" y="1562095"/>
            <a:ext cx="2064464" cy="275261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C30C996-0566-54A1-77B1-308D06E76F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9827" y="1562095"/>
            <a:ext cx="2302434" cy="2983954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BC7F06F7-0FAF-3B20-4116-6C3DC9A420C9}"/>
              </a:ext>
            </a:extLst>
          </p:cNvPr>
          <p:cNvSpPr txBox="1"/>
          <p:nvPr/>
        </p:nvSpPr>
        <p:spPr>
          <a:xfrm>
            <a:off x="3710815" y="2199490"/>
            <a:ext cx="485337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2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Steigen Sie ein in die Welt der MBO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Sannen des QR-Codes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Browser (Chrome oder Safari)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Menüführung am Handy folgen</a:t>
            </a:r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9CE68CD-8814-3694-1779-5E45C635F18B}"/>
              </a:ext>
            </a:extLst>
          </p:cNvPr>
          <p:cNvSpPr txBox="1">
            <a:spLocks/>
          </p:cNvSpPr>
          <p:nvPr/>
        </p:nvSpPr>
        <p:spPr>
          <a:xfrm>
            <a:off x="906276" y="6298870"/>
            <a:ext cx="1044359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9864725" algn="r"/>
              </a:tabLst>
            </a:pP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MBO Trinity GmbH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mail: </a:t>
            </a:r>
            <a:r>
              <a:rPr lang="de-AT" altLang="de-DE" sz="1050" u="sng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office@mbo-trinity.com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 </a:t>
            </a:r>
            <a:r>
              <a:rPr lang="de-AT" altLang="de-DE" sz="1050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tel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+43 502044-0	   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mbo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trinity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gmbh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Datenschutz I Impressum I Allgemeine Geschäftsbedingungen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C89CC3A-E305-2789-9BED-047DADF0F127}"/>
              </a:ext>
            </a:extLst>
          </p:cNvPr>
          <p:cNvSpPr txBox="1"/>
          <p:nvPr/>
        </p:nvSpPr>
        <p:spPr>
          <a:xfrm>
            <a:off x="2944077" y="4846327"/>
            <a:ext cx="72574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limits</a:t>
            </a:r>
            <a:r>
              <a:rPr lang="de-AT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de-AT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AT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mindset</a:t>
            </a:r>
            <a:endParaRPr lang="de-AT" sz="5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C9DA3B6-B141-2126-51DE-74E0F51F9D0F}"/>
              </a:ext>
            </a:extLst>
          </p:cNvPr>
          <p:cNvSpPr txBox="1"/>
          <p:nvPr/>
        </p:nvSpPr>
        <p:spPr>
          <a:xfrm>
            <a:off x="4428710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A61F108-4F0C-379F-FFCC-6AC54435F78C}"/>
              </a:ext>
            </a:extLst>
          </p:cNvPr>
          <p:cNvSpPr txBox="1"/>
          <p:nvPr/>
        </p:nvSpPr>
        <p:spPr>
          <a:xfrm>
            <a:off x="6146735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8D058F2-5D4A-A82E-7193-5813D6DAA9CC}"/>
              </a:ext>
            </a:extLst>
          </p:cNvPr>
          <p:cNvSpPr txBox="1"/>
          <p:nvPr/>
        </p:nvSpPr>
        <p:spPr>
          <a:xfrm>
            <a:off x="7429877" y="44106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D1855C3-3147-791B-6DC3-E3968516D77D}"/>
              </a:ext>
            </a:extLst>
          </p:cNvPr>
          <p:cNvSpPr txBox="1"/>
          <p:nvPr/>
        </p:nvSpPr>
        <p:spPr>
          <a:xfrm>
            <a:off x="8586862" y="45155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16" name="Grafik 15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BE62835C-3395-86AD-449B-2B0BBDF382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11261809" y="507102"/>
            <a:ext cx="331953" cy="216767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6316E77E-4491-1E66-26EF-126607154375}"/>
              </a:ext>
            </a:extLst>
          </p:cNvPr>
          <p:cNvSpPr txBox="1"/>
          <p:nvPr/>
        </p:nvSpPr>
        <p:spPr>
          <a:xfrm>
            <a:off x="9811518" y="457258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Download</a:t>
            </a:r>
          </a:p>
        </p:txBody>
      </p:sp>
    </p:spTree>
    <p:extLst>
      <p:ext uri="{BB962C8B-B14F-4D97-AF65-F5344CB8AC3E}">
        <p14:creationId xmlns:p14="http://schemas.microsoft.com/office/powerpoint/2010/main" val="414743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theme/theme1.xml><?xml version="1.0" encoding="utf-8"?>
<a:theme xmlns:a="http://schemas.openxmlformats.org/drawingml/2006/main" name="Master Trinity H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BO_Trinity_GmbH_II_de.potx" id="{366E3630-B22C-4E3D-9747-5BF531C635D7}" vid="{A13D97C2-B7B5-48B2-9998-D663CCBE7394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MBO_Trinity_GmbH_II_de</Template>
  <TotalTime>0</TotalTime>
  <Words>259</Words>
  <Application>Microsoft Office PowerPoint</Application>
  <PresentationFormat>Breitbild</PresentationFormat>
  <Paragraphs>35</Paragraphs>
  <Slides>3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6" baseType="lpstr">
      <vt:lpstr>Arial</vt:lpstr>
      <vt:lpstr>Calibri</vt:lpstr>
      <vt:lpstr>Master Trinity HP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MBO Services GmbH</dc:creator>
  <cp:lastModifiedBy>Office MBO Services GmbH</cp:lastModifiedBy>
  <cp:revision>27</cp:revision>
  <dcterms:created xsi:type="dcterms:W3CDTF">2025-05-08T11:48:37Z</dcterms:created>
  <dcterms:modified xsi:type="dcterms:W3CDTF">2026-01-13T12:30:43Z</dcterms:modified>
</cp:coreProperties>
</file>