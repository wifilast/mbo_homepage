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45" r:id="rId2"/>
    <p:sldId id="366" r:id="rId3"/>
    <p:sldId id="367" r:id="rId4"/>
    <p:sldId id="368" r:id="rId5"/>
    <p:sldId id="3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  <a:srgbClr val="0A172B"/>
    <a:srgbClr val="1A1F30"/>
    <a:srgbClr val="007AFF"/>
    <a:srgbClr val="0D0761"/>
    <a:srgbClr val="030755"/>
    <a:srgbClr val="15254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3047C-664C-4371-9230-C778BB589073}" type="datetimeFigureOut">
              <a:rPr lang="de-DE" smtClean="0"/>
              <a:t>13.01.2026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98C9C3-9551-4717-9CB1-D5CC99D644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16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32003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4698-AAB1-64CC-5F81-5605B25B8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AFF1D4D-48F5-4A50-370D-88D8E3EA4F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581143-8ABD-7655-0942-A6DCCF9EF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604C12-2E61-A479-3FC2-4412A2ABF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7790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6F15-B0F1-403A-C429-CD285C0A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45A828B-6650-BB93-4307-5B3E7BE2E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B5B8F5D-60A6-73D4-F580-B3AA3BF68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D89DF1-01A1-A66D-779A-10C6F4161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49443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3C52-1880-ABFF-7938-B229E560A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58EB8B1-A495-1A51-428A-F5ABA9D75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05B90DA-B595-4F91-750D-F3CFF1D5E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0F6ACF-857F-EF44-079C-5423A79079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7955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079F5-02BC-9927-610D-E478D267C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AB027E5-EE70-A3FD-9FBE-A491F5FE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04C25AF-2DD6-8080-2401-145387A01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77870C-B84D-C671-0903-C9F3C61C8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30F9E1-245E-4893-B3E9-8F2E9E2D073F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6938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7A2D8C-43A2-5798-8968-5CFD89D1A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065316"/>
            <a:ext cx="10795820" cy="53018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032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mailto:office@mbo-trinity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ffice@mbo-trinity.com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BD2693E-2775-8FFB-F8E8-740252561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0541F8-EA5A-F843-516F-87DD600B2588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2FAC60C-43FF-B5B1-B0FF-4B57D13DC741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E5A00D-F6BF-FB43-484E-20AC764BDC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8C47053-32FB-D9EA-11BB-7761DCB8628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21" name="Grafik 20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FBD8890F-A326-C8EF-4668-C02F7EC5D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E5A39E5C-3A32-E174-E85F-6F8C444AB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523" y="2062246"/>
            <a:ext cx="4853370" cy="169428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F47B1A59-AA77-880F-57DC-BFB2C6143F12}"/>
              </a:ext>
            </a:extLst>
          </p:cNvPr>
          <p:cNvSpPr txBox="1"/>
          <p:nvPr/>
        </p:nvSpPr>
        <p:spPr>
          <a:xfrm>
            <a:off x="3473523" y="3757442"/>
            <a:ext cx="50491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 </a:t>
            </a:r>
            <a:r>
              <a:rPr lang="de-AT" sz="185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AT" sz="185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Technological Excellence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6F6A43A6-D01F-34D4-0D43-7BE4D26F7593}"/>
              </a:ext>
            </a:extLst>
          </p:cNvPr>
          <p:cNvCxnSpPr/>
          <p:nvPr/>
        </p:nvCxnSpPr>
        <p:spPr>
          <a:xfrm>
            <a:off x="0" y="1545996"/>
            <a:ext cx="1219200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A6D45A8B-78E5-AC2E-B26A-CC96E5C3DBF0}"/>
              </a:ext>
            </a:extLst>
          </p:cNvPr>
          <p:cNvCxnSpPr>
            <a:cxnSpLocks/>
          </p:cNvCxnSpPr>
          <p:nvPr/>
        </p:nvCxnSpPr>
        <p:spPr>
          <a:xfrm>
            <a:off x="-97896" y="4658413"/>
            <a:ext cx="12289896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8D0613E0-9B4F-789B-D44A-AFE036ADAD49}"/>
              </a:ext>
            </a:extLst>
          </p:cNvPr>
          <p:cNvSpPr txBox="1"/>
          <p:nvPr/>
        </p:nvSpPr>
        <p:spPr>
          <a:xfrm>
            <a:off x="10302322" y="1578920"/>
            <a:ext cx="1769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 err="1">
                <a:solidFill>
                  <a:srgbClr val="FFFF00"/>
                </a:solidFill>
              </a:rPr>
              <a:t>Blidbereich</a:t>
            </a:r>
            <a:r>
              <a:rPr lang="de-DE" sz="1000" dirty="0">
                <a:solidFill>
                  <a:srgbClr val="FFFF00"/>
                </a:solidFill>
              </a:rPr>
              <a:t> / Fotoserie 2.0</a:t>
            </a:r>
          </a:p>
        </p:txBody>
      </p:sp>
      <p:sp>
        <p:nvSpPr>
          <p:cNvPr id="36" name="Flussdiagramm: Prozess 35">
            <a:extLst>
              <a:ext uri="{FF2B5EF4-FFF2-40B4-BE49-F238E27FC236}">
                <a16:creationId xmlns:a16="http://schemas.microsoft.com/office/drawing/2014/main" id="{E2836311-1C93-9DBA-87B0-B4513AD8AF34}"/>
              </a:ext>
            </a:extLst>
          </p:cNvPr>
          <p:cNvSpPr/>
          <p:nvPr/>
        </p:nvSpPr>
        <p:spPr>
          <a:xfrm>
            <a:off x="754144" y="2552313"/>
            <a:ext cx="2303818" cy="652014"/>
          </a:xfrm>
          <a:prstGeom prst="flowChartProcess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77101421-7978-8C98-709F-AFA01AA5F359}"/>
              </a:ext>
            </a:extLst>
          </p:cNvPr>
          <p:cNvSpPr txBox="1"/>
          <p:nvPr/>
        </p:nvSpPr>
        <p:spPr>
          <a:xfrm>
            <a:off x="1024036" y="2753637"/>
            <a:ext cx="15877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000" dirty="0">
                <a:solidFill>
                  <a:srgbClr val="FFFF00"/>
                </a:solidFill>
              </a:rPr>
              <a:t>Textserie 2.0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4B256F63-C568-C653-D832-C27A5772F550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213709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FC33-B781-7AD5-2500-49FC7AFE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71553AB-0045-7029-4EE3-D74EED37A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AEB33EE7-9CF3-C017-40A4-486D23A966FC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CA6B56-D235-81BC-076A-61EF7EC89B4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5BAB4B1-3FC1-5B03-6F4E-E2746E753BA0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BEFC97D-A850-730D-BB1A-CE8A5F3DD31B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2735DD-1C0B-C486-BA37-FD6E3383A871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A6FF9B82-8B9B-F275-502C-6BE9063B0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C653B40-2815-5798-47C7-1AB84F306A4B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6F6350E-ACAA-A15E-18E5-25FA1C626E0F}"/>
              </a:ext>
            </a:extLst>
          </p:cNvPr>
          <p:cNvSpPr txBox="1"/>
          <p:nvPr/>
        </p:nvSpPr>
        <p:spPr>
          <a:xfrm>
            <a:off x="528836" y="1480287"/>
            <a:ext cx="6496210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DE" dirty="0">
                <a:solidFill>
                  <a:schemeClr val="bg1"/>
                </a:solidFill>
              </a:rPr>
              <a:t>Die MBO Trinity GmbH ist ein führender Anbieter von hochpräzisen Ingenieurdienstleistungen und innovativen Lösungen für die Errichtung von Reinräumen, Prüfständen, der Anlagenintegration und den Sonderanlagenbau.</a:t>
            </a:r>
            <a:endParaRPr lang="en-US" dirty="0">
              <a:solidFill>
                <a:schemeClr val="bg1"/>
              </a:solidFill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DE" dirty="0">
                <a:solidFill>
                  <a:schemeClr val="bg1"/>
                </a:solidFill>
              </a:rPr>
              <a:t>Aus der Halbleiterindustrie kommend, mit einem starken Fokus auf Spitzentechnologie und Innovation entwickeln wir zukunftsweisende Lösungen, die den höchsten Ansprüchen an Präzision, Zuverlässigkeit und Effizienz gerecht werden.</a:t>
            </a:r>
          </a:p>
          <a:p>
            <a:pPr algn="just">
              <a:spcBef>
                <a:spcPts val="600"/>
              </a:spcBef>
            </a:pPr>
            <a:r>
              <a:rPr lang="de-DE" dirty="0">
                <a:solidFill>
                  <a:srgbClr val="FFFFFF"/>
                </a:solidFill>
              </a:rPr>
              <a:t>Unsere Geschäftsfelder umfassen Projekt Management, Engineering, Mess-, Steuerungs- und Regelungstechnik, Softwareentwicklung sowie die Fertigung und Montage. </a:t>
            </a:r>
          </a:p>
          <a:p>
            <a:pPr algn="just">
              <a:spcBef>
                <a:spcPts val="600"/>
              </a:spcBef>
            </a:pPr>
            <a:r>
              <a:rPr lang="de-DE" dirty="0">
                <a:solidFill>
                  <a:srgbClr val="FFFFFF"/>
                </a:solidFill>
              </a:rPr>
              <a:t>Unsre Leistungen erbringen wir entweder direkt beim Kunden oder auf 600 m² Produktionsfläche an unserem Standort in Brunn am Gebirge. 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35566AF-60F9-C84C-E6E8-96A3BB784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287" y="2258568"/>
            <a:ext cx="2075942" cy="724702"/>
          </a:xfrm>
          <a:prstGeom prst="rect">
            <a:avLst/>
          </a:prstGeom>
        </p:spPr>
      </p:pic>
      <p:sp>
        <p:nvSpPr>
          <p:cNvPr id="19" name="Gleichschenkliges Dreieck 18">
            <a:extLst>
              <a:ext uri="{FF2B5EF4-FFF2-40B4-BE49-F238E27FC236}">
                <a16:creationId xmlns:a16="http://schemas.microsoft.com/office/drawing/2014/main" id="{1DA2D992-EE84-2F69-03E3-1A37C332DF7B}"/>
              </a:ext>
            </a:extLst>
          </p:cNvPr>
          <p:cNvSpPr/>
          <p:nvPr/>
        </p:nvSpPr>
        <p:spPr>
          <a:xfrm>
            <a:off x="8917086" y="3143428"/>
            <a:ext cx="777213" cy="690626"/>
          </a:xfrm>
          <a:prstGeom prst="triangl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CD59EB2-BD85-9FF8-3206-E3873DC0E8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763" y="4019353"/>
            <a:ext cx="1248360" cy="436525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81ADB3ED-6210-24FB-A025-91AAE138C143}"/>
              </a:ext>
            </a:extLst>
          </p:cNvPr>
          <p:cNvSpPr txBox="1"/>
          <p:nvPr/>
        </p:nvSpPr>
        <p:spPr>
          <a:xfrm>
            <a:off x="7492174" y="4495725"/>
            <a:ext cx="160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SzPct val="90000"/>
              <a:buFont typeface="Wingdings" panose="05000000000000000000" pitchFamily="2" charset="2"/>
              <a:buChar char="§"/>
              <a:tabLst>
                <a:tab pos="176213" algn="l"/>
              </a:tabLst>
            </a:pPr>
            <a:r>
              <a:rPr lang="de-AT" sz="1000" b="1" dirty="0">
                <a:solidFill>
                  <a:schemeClr val="bg1"/>
                </a:solidFill>
              </a:rPr>
              <a:t>Administration</a:t>
            </a:r>
          </a:p>
          <a:p>
            <a:pPr marL="92075" indent="-92075">
              <a:buSzPct val="90000"/>
              <a:buFont typeface="Wingdings" panose="05000000000000000000" pitchFamily="2" charset="2"/>
              <a:buChar char="§"/>
              <a:tabLst>
                <a:tab pos="176213" algn="l"/>
              </a:tabLst>
            </a:pPr>
            <a:r>
              <a:rPr lang="de-AT" sz="1000" b="1" dirty="0">
                <a:solidFill>
                  <a:schemeClr val="bg1"/>
                </a:solidFill>
              </a:rPr>
              <a:t>Project Management</a:t>
            </a:r>
          </a:p>
          <a:p>
            <a:pPr marL="92075" indent="-92075">
              <a:buSzPct val="90000"/>
              <a:buFont typeface="Wingdings" panose="05000000000000000000" pitchFamily="2" charset="2"/>
              <a:buChar char="§"/>
              <a:tabLst>
                <a:tab pos="176213" algn="l"/>
              </a:tabLst>
            </a:pPr>
            <a:r>
              <a:rPr lang="de-AT" sz="1000" b="1" dirty="0">
                <a:solidFill>
                  <a:schemeClr val="bg1"/>
                </a:solidFill>
              </a:rPr>
              <a:t>Engineering</a:t>
            </a:r>
          </a:p>
          <a:p>
            <a:pPr marL="92075" indent="-92075">
              <a:buSzPct val="90000"/>
              <a:buFont typeface="Wingdings" panose="05000000000000000000" pitchFamily="2" charset="2"/>
              <a:buChar char="§"/>
              <a:tabLst>
                <a:tab pos="176213" algn="l"/>
              </a:tabLst>
            </a:pPr>
            <a:r>
              <a:rPr lang="de-AT" sz="1000" b="1" dirty="0">
                <a:solidFill>
                  <a:schemeClr val="bg1"/>
                </a:solidFill>
              </a:rPr>
              <a:t>Software Development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8471C82-83F5-085A-55D1-B9A521C6CFAA}"/>
              </a:ext>
            </a:extLst>
          </p:cNvPr>
          <p:cNvSpPr txBox="1"/>
          <p:nvPr/>
        </p:nvSpPr>
        <p:spPr>
          <a:xfrm>
            <a:off x="9735763" y="4455879"/>
            <a:ext cx="17498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Site </a:t>
            </a:r>
            <a:r>
              <a:rPr lang="de-AT" sz="1000" b="1" dirty="0" err="1">
                <a:solidFill>
                  <a:schemeClr val="bg1"/>
                </a:solidFill>
              </a:rPr>
              <a:t>coordination</a:t>
            </a:r>
            <a:endParaRPr lang="de-AT" sz="1000" b="1" dirty="0">
              <a:solidFill>
                <a:schemeClr val="bg1"/>
              </a:solidFill>
            </a:endParaRPr>
          </a:p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Work </a:t>
            </a:r>
            <a:r>
              <a:rPr lang="de-AT" sz="1000" b="1" dirty="0" err="1">
                <a:solidFill>
                  <a:schemeClr val="bg1"/>
                </a:solidFill>
              </a:rPr>
              <a:t>preperation</a:t>
            </a:r>
            <a:endParaRPr lang="de-AT" sz="1000" b="1" dirty="0">
              <a:solidFill>
                <a:schemeClr val="bg1"/>
              </a:solidFill>
            </a:endParaRPr>
          </a:p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Construction</a:t>
            </a:r>
          </a:p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Maintenance and </a:t>
            </a:r>
            <a:r>
              <a:rPr lang="de-AT" sz="1000" b="1" dirty="0" err="1">
                <a:solidFill>
                  <a:schemeClr val="bg1"/>
                </a:solidFill>
              </a:rPr>
              <a:t>Servicing</a:t>
            </a:r>
            <a:endParaRPr lang="de-AT" sz="1000" b="1" dirty="0">
              <a:solidFill>
                <a:schemeClr val="bg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066EFC0-8373-8185-141A-6295115C56A8}"/>
              </a:ext>
            </a:extLst>
          </p:cNvPr>
          <p:cNvSpPr txBox="1"/>
          <p:nvPr/>
        </p:nvSpPr>
        <p:spPr>
          <a:xfrm>
            <a:off x="10144513" y="2220403"/>
            <a:ext cx="15316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Headquarter</a:t>
            </a:r>
          </a:p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Customer Relationship</a:t>
            </a:r>
          </a:p>
          <a:p>
            <a:pPr marL="92075" indent="-92075">
              <a:buSzPct val="90000"/>
              <a:buFont typeface="Wingdings" panose="05000000000000000000" pitchFamily="2" charset="2"/>
              <a:buChar char="§"/>
            </a:pPr>
            <a:r>
              <a:rPr lang="de-AT" sz="1000" b="1" dirty="0">
                <a:solidFill>
                  <a:schemeClr val="bg1"/>
                </a:solidFill>
              </a:rPr>
              <a:t>Accounting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663D521-A5B5-9484-5BAB-5CC4CA0E7C7C}"/>
              </a:ext>
            </a:extLst>
          </p:cNvPr>
          <p:cNvSpPr txBox="1"/>
          <p:nvPr/>
        </p:nvSpPr>
        <p:spPr>
          <a:xfrm>
            <a:off x="7304483" y="1565107"/>
            <a:ext cx="4289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 Group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67FDF7-83C3-3D8E-FD61-41C961BF1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113" y="3994212"/>
            <a:ext cx="1334973" cy="461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205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6F056-4743-2026-4015-19466890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270BB11A-9A8C-C067-1034-8881E8F0C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409ED574-5530-CE30-2432-22F3D743769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086F3C2-CF1B-C2D0-C4CE-05516C94C05E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E973BC2-8B34-C5C8-F811-DAC5EE8F9AAD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ADB8011-7A70-D04E-56E2-D0AA2E8D1FC7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5C934C4-10D5-A228-666A-D2F883879170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D4752C3E-0AA8-6519-D64A-34A7F5383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095FA464-AB70-B340-D918-F9D9BA49941E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7A8CD88-02F0-D9E6-9DE6-6FF9AA79BC57}"/>
              </a:ext>
            </a:extLst>
          </p:cNvPr>
          <p:cNvSpPr txBox="1"/>
          <p:nvPr/>
        </p:nvSpPr>
        <p:spPr>
          <a:xfrm>
            <a:off x="698240" y="939351"/>
            <a:ext cx="7106245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DE" dirty="0">
                <a:solidFill>
                  <a:schemeClr val="bg1"/>
                </a:solidFill>
              </a:rPr>
              <a:t>In unserer Funktion als ausführendes Unternehmen oder als Generalunternehmer übernehmen wir die volle Verantwortung für die Einhaltung der Sicherheits- und Qualitätsstandards sowie für die zielgerichtete und termintreue Projektumsetzung in komplexesten Prozessumgebungen. 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DE" sz="1800" dirty="0">
                <a:solidFill>
                  <a:srgbClr val="FFFFFF"/>
                </a:solidFill>
              </a:rPr>
              <a:t>Dank unserer umfassenden Expertise und Innovationskraft unterstützen wir internationale Konzerne und Technologieführer bei der Umsetzung von Projekten, die neue Maßstäbe in der Branche setzen. 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Zu den Kernkompetenzen der MBO gehört es, strengste Spezifikationen, wie z.B. Stabilität für Temperatur </a:t>
            </a:r>
            <a:r>
              <a:rPr lang="de-AT" dirty="0">
                <a:solidFill>
                  <a:srgbClr val="FFFFFF"/>
                </a:solidFill>
              </a:rPr>
              <a:t>±2 </a:t>
            </a:r>
            <a:r>
              <a:rPr lang="de-AT" dirty="0" err="1">
                <a:solidFill>
                  <a:srgbClr val="FFFFFF"/>
                </a:solidFill>
              </a:rPr>
              <a:t>mK</a:t>
            </a:r>
            <a:r>
              <a:rPr lang="de-AT" dirty="0">
                <a:solidFill>
                  <a:srgbClr val="FFFFFF"/>
                </a:solidFill>
              </a:rPr>
              <a:t>, Druck ±1 </a:t>
            </a:r>
            <a:r>
              <a:rPr lang="de-AT" dirty="0" err="1">
                <a:solidFill>
                  <a:srgbClr val="FFFFFF"/>
                </a:solidFill>
              </a:rPr>
              <a:t>Pa</a:t>
            </a:r>
            <a:r>
              <a:rPr lang="de-AT" dirty="0">
                <a:solidFill>
                  <a:srgbClr val="FFFFFF"/>
                </a:solidFill>
              </a:rPr>
              <a:t>, rel. Feuchte ±0,2 %, Magnetfeld AC ≤ 0.03 µT, DC &lt; 0.03 µT, etc., einzuhalten.</a:t>
            </a:r>
            <a:endParaRPr lang="de-DE" dirty="0">
              <a:solidFill>
                <a:srgbClr val="FFFFFF"/>
              </a:solidFill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Dabei errichtet die MBO Prozessumgebungen wie Reinräume, Prüf-, Mess- und Klimakammern mit den zum Betrieb erforderlichen Anlagen und Aggregaten so, dass strengste Spezifikationen erfüllt werden und die Arbeitsprozesse in diesen Prozessumgebungen sicher und effizient durchgeführt werden können.</a:t>
            </a:r>
            <a:endParaRPr lang="de-DE" dirty="0">
              <a:solidFill>
                <a:srgbClr val="FFFFFF"/>
              </a:solidFill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endParaRPr lang="de-DE" sz="1800" dirty="0">
              <a:solidFill>
                <a:srgbClr val="FFFFFF"/>
              </a:solidFill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BFFCC8E-6B73-26D2-EF6B-A0E29D51AC33}"/>
              </a:ext>
            </a:extLst>
          </p:cNvPr>
          <p:cNvSpPr/>
          <p:nvPr/>
        </p:nvSpPr>
        <p:spPr>
          <a:xfrm>
            <a:off x="8174400" y="1115317"/>
            <a:ext cx="3608525" cy="1218810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AC29961-18BC-8E98-8EEA-45ACB4CD29A9}"/>
              </a:ext>
            </a:extLst>
          </p:cNvPr>
          <p:cNvSpPr txBox="1"/>
          <p:nvPr/>
        </p:nvSpPr>
        <p:spPr>
          <a:xfrm>
            <a:off x="8319546" y="1167891"/>
            <a:ext cx="394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82A1C20-3611-BFD5-8A20-660203871585}"/>
              </a:ext>
            </a:extLst>
          </p:cNvPr>
          <p:cNvSpPr txBox="1"/>
          <p:nvPr/>
        </p:nvSpPr>
        <p:spPr>
          <a:xfrm>
            <a:off x="8319546" y="1468697"/>
            <a:ext cx="323879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300" dirty="0">
                <a:solidFill>
                  <a:schemeClr val="bg1"/>
                </a:solidFill>
              </a:rPr>
              <a:t>Firmenreorganisation</a:t>
            </a:r>
          </a:p>
          <a:p>
            <a:r>
              <a:rPr lang="de-AT" sz="1300" dirty="0">
                <a:solidFill>
                  <a:schemeClr val="bg1"/>
                </a:solidFill>
              </a:rPr>
              <a:t>Gründung der MBO Trinity GmbH</a:t>
            </a:r>
          </a:p>
          <a:p>
            <a:r>
              <a:rPr lang="de-AT" sz="1300" dirty="0">
                <a:solidFill>
                  <a:schemeClr val="bg1"/>
                </a:solidFill>
              </a:rPr>
              <a:t>Gründung der MBO Engineering GmbH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151EF01-CC8A-E0F8-3FB8-8E8EF6120AD7}"/>
              </a:ext>
            </a:extLst>
          </p:cNvPr>
          <p:cNvSpPr/>
          <p:nvPr/>
        </p:nvSpPr>
        <p:spPr>
          <a:xfrm>
            <a:off x="8174400" y="2455593"/>
            <a:ext cx="3608525" cy="973407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0299E78-E95C-3624-8D3B-C351CDA77AD6}"/>
              </a:ext>
            </a:extLst>
          </p:cNvPr>
          <p:cNvSpPr txBox="1"/>
          <p:nvPr/>
        </p:nvSpPr>
        <p:spPr>
          <a:xfrm>
            <a:off x="8319546" y="2508167"/>
            <a:ext cx="3944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BB3CDF6-00BD-98E9-7183-123D5B19BB24}"/>
              </a:ext>
            </a:extLst>
          </p:cNvPr>
          <p:cNvSpPr txBox="1"/>
          <p:nvPr/>
        </p:nvSpPr>
        <p:spPr>
          <a:xfrm>
            <a:off x="8319546" y="2808973"/>
            <a:ext cx="323879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300" dirty="0">
                <a:solidFill>
                  <a:schemeClr val="bg1"/>
                </a:solidFill>
              </a:rPr>
              <a:t>Übersiedlung Engineering-Büro HALLEIN nach PUCH bei HALLEIN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E95DD2C-EEE0-5D97-A8D4-16F4D76281F3}"/>
              </a:ext>
            </a:extLst>
          </p:cNvPr>
          <p:cNvSpPr/>
          <p:nvPr/>
        </p:nvSpPr>
        <p:spPr>
          <a:xfrm>
            <a:off x="8174400" y="3603040"/>
            <a:ext cx="3608525" cy="1218810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49000C9-8595-0842-A5DD-A5068D4303AB}"/>
              </a:ext>
            </a:extLst>
          </p:cNvPr>
          <p:cNvSpPr txBox="1"/>
          <p:nvPr/>
        </p:nvSpPr>
        <p:spPr>
          <a:xfrm>
            <a:off x="8319546" y="3956420"/>
            <a:ext cx="346337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300" dirty="0">
                <a:solidFill>
                  <a:schemeClr val="bg1"/>
                </a:solidFill>
              </a:rPr>
              <a:t>Übersiedlung Produktionsstandort Traiskirchen nach Brunn am Gebirge;</a:t>
            </a:r>
          </a:p>
          <a:p>
            <a:r>
              <a:rPr lang="de-AT" sz="1300" dirty="0">
                <a:solidFill>
                  <a:schemeClr val="bg1"/>
                </a:solidFill>
              </a:rPr>
              <a:t>Erweiterung der Produktionsfläche auf 600 m²</a:t>
            </a:r>
            <a:endParaRPr lang="de-DE" sz="1300" dirty="0">
              <a:solidFill>
                <a:schemeClr val="bg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B5CA8C3-D5B0-223A-71E2-A86D4E1395CB}"/>
              </a:ext>
            </a:extLst>
          </p:cNvPr>
          <p:cNvSpPr txBox="1"/>
          <p:nvPr/>
        </p:nvSpPr>
        <p:spPr>
          <a:xfrm>
            <a:off x="8319547" y="3644988"/>
            <a:ext cx="1233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4D652638-ED0E-88C9-B283-670925D09311}"/>
              </a:ext>
            </a:extLst>
          </p:cNvPr>
          <p:cNvSpPr/>
          <p:nvPr/>
        </p:nvSpPr>
        <p:spPr>
          <a:xfrm>
            <a:off x="8238569" y="4995890"/>
            <a:ext cx="3608525" cy="973407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1599372-318E-4758-0504-D27D92BD0435}"/>
              </a:ext>
            </a:extLst>
          </p:cNvPr>
          <p:cNvSpPr txBox="1"/>
          <p:nvPr/>
        </p:nvSpPr>
        <p:spPr>
          <a:xfrm>
            <a:off x="8383715" y="5349270"/>
            <a:ext cx="3463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chemeClr val="bg1"/>
                </a:solidFill>
              </a:rPr>
              <a:t>Eröffnung Produktionsstandort Traiskirchen;</a:t>
            </a:r>
          </a:p>
          <a:p>
            <a:r>
              <a:rPr lang="de-AT" sz="1400" dirty="0">
                <a:solidFill>
                  <a:schemeClr val="bg1"/>
                </a:solidFill>
              </a:rPr>
              <a:t>Start mit Montagen für Industrieanlagen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3764E89-F22F-BA0C-62E9-3D2514FAE2DC}"/>
              </a:ext>
            </a:extLst>
          </p:cNvPr>
          <p:cNvSpPr txBox="1"/>
          <p:nvPr/>
        </p:nvSpPr>
        <p:spPr>
          <a:xfrm>
            <a:off x="8383716" y="5037838"/>
            <a:ext cx="1233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94465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B1F86-B020-A980-6558-9E79C50B5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B1514BF-947C-982A-1736-EDAF54D17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DAA93821-89BD-1C46-23F0-6254B534EEA1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CB3E46-8180-ADC9-2D2A-066FFBC276EA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5663FCF-ABE8-DC19-6880-78D7B2CB5DEE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F9E0A18-C8CF-81C6-19E0-3336DC3A7BE3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5F741A5-2E44-F654-8D71-F147CF9580CA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20D707B8-E494-8014-D282-EEE3315719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7BDDB8B9-667B-8BF3-4016-0662D774C928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913456F-6882-C4B0-849A-95D8BCCB07FC}"/>
              </a:ext>
            </a:extLst>
          </p:cNvPr>
          <p:cNvSpPr txBox="1"/>
          <p:nvPr/>
        </p:nvSpPr>
        <p:spPr>
          <a:xfrm>
            <a:off x="628251" y="1443841"/>
            <a:ext cx="7106245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buSzPct val="90000"/>
            </a:pPr>
            <a:r>
              <a:rPr lang="de-AT" dirty="0">
                <a:solidFill>
                  <a:schemeClr val="bg1"/>
                </a:solidFill>
              </a:rPr>
              <a:t>Die MBO integriert investitionsintensive Anlagen im Wert von 2-stelligen Millionen Euro Beträgen, wie z.B. MBMW-Tools, </a:t>
            </a:r>
            <a:r>
              <a:rPr lang="de-AT" dirty="0" err="1">
                <a:solidFill>
                  <a:schemeClr val="bg1"/>
                </a:solidFill>
              </a:rPr>
              <a:t>Photomask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development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systems</a:t>
            </a:r>
            <a:r>
              <a:rPr lang="de-AT" dirty="0">
                <a:solidFill>
                  <a:schemeClr val="bg1"/>
                </a:solidFill>
              </a:rPr>
              <a:t>, Scanning </a:t>
            </a:r>
            <a:r>
              <a:rPr lang="de-AT" dirty="0" err="1">
                <a:solidFill>
                  <a:schemeClr val="bg1"/>
                </a:solidFill>
              </a:rPr>
              <a:t>Electron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Microscopes</a:t>
            </a:r>
            <a:r>
              <a:rPr lang="de-AT" dirty="0">
                <a:solidFill>
                  <a:schemeClr val="bg1"/>
                </a:solidFill>
              </a:rPr>
              <a:t>, Test </a:t>
            </a:r>
            <a:r>
              <a:rPr lang="de-AT" dirty="0" err="1">
                <a:solidFill>
                  <a:schemeClr val="bg1"/>
                </a:solidFill>
              </a:rPr>
              <a:t>benches</a:t>
            </a:r>
            <a:r>
              <a:rPr lang="de-AT" dirty="0">
                <a:solidFill>
                  <a:schemeClr val="bg1"/>
                </a:solidFill>
              </a:rPr>
              <a:t>, Climate Chambers, Cluster, usw., in Prozessumgebungen. Die Leistungen der MBO umfassen dabei den vollen Projektzyklus. </a:t>
            </a:r>
            <a:endParaRPr lang="de-DE" dirty="0">
              <a:solidFill>
                <a:srgbClr val="FFFFFF"/>
              </a:solidFill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  <a:buSzPct val="90000"/>
            </a:pPr>
            <a:endParaRPr lang="de-DE" sz="1800" dirty="0">
              <a:solidFill>
                <a:srgbClr val="FFFFFF"/>
              </a:solidFill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B7319AD-BF25-D81F-6D66-304EF1596BB5}"/>
              </a:ext>
            </a:extLst>
          </p:cNvPr>
          <p:cNvSpPr/>
          <p:nvPr/>
        </p:nvSpPr>
        <p:spPr>
          <a:xfrm>
            <a:off x="8118253" y="1443841"/>
            <a:ext cx="3608525" cy="721843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7EB3933-041C-5D24-922B-C51980524048}"/>
              </a:ext>
            </a:extLst>
          </p:cNvPr>
          <p:cNvSpPr txBox="1"/>
          <p:nvPr/>
        </p:nvSpPr>
        <p:spPr>
          <a:xfrm>
            <a:off x="8263399" y="1797221"/>
            <a:ext cx="346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chemeClr val="bg1"/>
                </a:solidFill>
              </a:rPr>
              <a:t>Eröffnung Engineering-Büro HALLEIN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A135F4F-45AA-2124-CC9A-47A7521E43D1}"/>
              </a:ext>
            </a:extLst>
          </p:cNvPr>
          <p:cNvSpPr txBox="1"/>
          <p:nvPr/>
        </p:nvSpPr>
        <p:spPr>
          <a:xfrm>
            <a:off x="8263400" y="1485789"/>
            <a:ext cx="1233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2018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72381CC-6C78-5C95-1EAD-E0CBB6A9AA3F}"/>
              </a:ext>
            </a:extLst>
          </p:cNvPr>
          <p:cNvSpPr/>
          <p:nvPr/>
        </p:nvSpPr>
        <p:spPr>
          <a:xfrm>
            <a:off x="8118253" y="2416430"/>
            <a:ext cx="3608525" cy="721843"/>
          </a:xfrm>
          <a:prstGeom prst="roundRect">
            <a:avLst/>
          </a:prstGeom>
          <a:solidFill>
            <a:srgbClr val="1A1F30"/>
          </a:solidFill>
          <a:ln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6F0348A-E899-A661-42F1-E102CBF35982}"/>
              </a:ext>
            </a:extLst>
          </p:cNvPr>
          <p:cNvSpPr txBox="1"/>
          <p:nvPr/>
        </p:nvSpPr>
        <p:spPr>
          <a:xfrm>
            <a:off x="8263399" y="2769810"/>
            <a:ext cx="346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dirty="0">
                <a:solidFill>
                  <a:schemeClr val="bg1"/>
                </a:solidFill>
              </a:rPr>
              <a:t>Gründung MBO </a:t>
            </a:r>
            <a:r>
              <a:rPr lang="de-AT" sz="1400" dirty="0" err="1">
                <a:solidFill>
                  <a:schemeClr val="bg1"/>
                </a:solidFill>
              </a:rPr>
              <a:t>services</a:t>
            </a:r>
            <a:r>
              <a:rPr lang="de-AT" sz="1400" dirty="0">
                <a:solidFill>
                  <a:schemeClr val="bg1"/>
                </a:solidFill>
              </a:rPr>
              <a:t> GmbH</a:t>
            </a:r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386562-6A27-0084-BD24-0C0185454A72}"/>
              </a:ext>
            </a:extLst>
          </p:cNvPr>
          <p:cNvSpPr txBox="1"/>
          <p:nvPr/>
        </p:nvSpPr>
        <p:spPr>
          <a:xfrm>
            <a:off x="8263400" y="2458378"/>
            <a:ext cx="1233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2016</a:t>
            </a:r>
          </a:p>
        </p:txBody>
      </p:sp>
    </p:spTree>
    <p:extLst>
      <p:ext uri="{BB962C8B-B14F-4D97-AF65-F5344CB8AC3E}">
        <p14:creationId xmlns:p14="http://schemas.microsoft.com/office/powerpoint/2010/main" val="290102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5772-55D3-0AB9-A032-42FF6AEB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A2363B8-1F2A-30AC-D149-9180C8509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28" y="376567"/>
            <a:ext cx="1368789" cy="47783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C6DBBA95-4A0C-6AF2-E26D-3BBC3531B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12" y="2107503"/>
            <a:ext cx="2064464" cy="27526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C30C996-0566-54A1-77B1-308D06E76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7848" y="2107503"/>
            <a:ext cx="2302434" cy="298395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7F06F7-0FAF-3B20-4116-6C3DC9A420C9}"/>
              </a:ext>
            </a:extLst>
          </p:cNvPr>
          <p:cNvSpPr txBox="1"/>
          <p:nvPr/>
        </p:nvSpPr>
        <p:spPr>
          <a:xfrm>
            <a:off x="3718836" y="2744898"/>
            <a:ext cx="4853370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2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Steigen Sie ein in die Welt der MBO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Sannen des QR-Codes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(Chrome oder Safari)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de-AT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Menüführung am Handy folgen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9CE68CD-8814-3694-1779-5E45C635F18B}"/>
              </a:ext>
            </a:extLst>
          </p:cNvPr>
          <p:cNvSpPr txBox="1">
            <a:spLocks/>
          </p:cNvSpPr>
          <p:nvPr/>
        </p:nvSpPr>
        <p:spPr>
          <a:xfrm>
            <a:off x="906276" y="6298870"/>
            <a:ext cx="10443596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9864725" algn="r"/>
              </a:tabLst>
            </a:pP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MBO Trinity GmbH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mail: </a:t>
            </a:r>
            <a:r>
              <a:rPr lang="de-AT" altLang="de-DE" sz="1050" u="sng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office@mbo-trinity.com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 </a:t>
            </a:r>
            <a:r>
              <a:rPr lang="de-AT" altLang="de-DE" sz="1050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tel</a:t>
            </a:r>
            <a:r>
              <a:rPr lang="de-AT" altLang="de-DE" sz="1050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de-AT" altLang="de-DE" sz="105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+43 502044-0	   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mbo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gmbh</a:t>
            </a:r>
            <a:r>
              <a:rPr lang="de-AT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Datenschutz I Impressum I Allgemeine Geschäftsbedingungen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C89CC3A-E305-2789-9BED-047DADF0F127}"/>
              </a:ext>
            </a:extLst>
          </p:cNvPr>
          <p:cNvSpPr txBox="1"/>
          <p:nvPr/>
        </p:nvSpPr>
        <p:spPr>
          <a:xfrm>
            <a:off x="2952098" y="5391735"/>
            <a:ext cx="7257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de-AT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de-AT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mindset</a:t>
            </a:r>
            <a:endParaRPr lang="de-AT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C9DA3B6-B141-2126-51DE-74E0F51F9D0F}"/>
              </a:ext>
            </a:extLst>
          </p:cNvPr>
          <p:cNvSpPr txBox="1"/>
          <p:nvPr/>
        </p:nvSpPr>
        <p:spPr>
          <a:xfrm>
            <a:off x="4428710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Unternehmen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1F108-4F0C-379F-FFCC-6AC54435F78C}"/>
              </a:ext>
            </a:extLst>
          </p:cNvPr>
          <p:cNvSpPr txBox="1"/>
          <p:nvPr/>
        </p:nvSpPr>
        <p:spPr>
          <a:xfrm>
            <a:off x="6146735" y="448700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Produkte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8D058F2-5D4A-A82E-7193-5813D6DAA9CC}"/>
              </a:ext>
            </a:extLst>
          </p:cNvPr>
          <p:cNvSpPr txBox="1"/>
          <p:nvPr/>
        </p:nvSpPr>
        <p:spPr>
          <a:xfrm>
            <a:off x="7429877" y="44106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Karriere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D1855C3-3147-791B-6DC3-E3968516D77D}"/>
              </a:ext>
            </a:extLst>
          </p:cNvPr>
          <p:cNvSpPr txBox="1"/>
          <p:nvPr/>
        </p:nvSpPr>
        <p:spPr>
          <a:xfrm>
            <a:off x="8586862" y="451553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Kontakt</a:t>
            </a:r>
          </a:p>
        </p:txBody>
      </p:sp>
      <p:pic>
        <p:nvPicPr>
          <p:cNvPr id="16" name="Grafik 15" descr="Ein Bild, das Flagge, rot, Karminrot, Symbol enthält.&#10;&#10;KI-generierte Inhalte können fehlerhaft sein.">
            <a:extLst>
              <a:ext uri="{FF2B5EF4-FFF2-40B4-BE49-F238E27FC236}">
                <a16:creationId xmlns:a16="http://schemas.microsoft.com/office/drawing/2014/main" id="{BE62835C-3395-86AD-449B-2B0BBDF3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1261809" y="507102"/>
            <a:ext cx="331953" cy="216767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6316E77E-4491-1E66-26EF-126607154375}"/>
              </a:ext>
            </a:extLst>
          </p:cNvPr>
          <p:cNvSpPr txBox="1"/>
          <p:nvPr/>
        </p:nvSpPr>
        <p:spPr>
          <a:xfrm>
            <a:off x="9811518" y="457258"/>
            <a:ext cx="1587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de-DE" sz="1800" dirty="0">
                <a:solidFill>
                  <a:srgbClr val="FFFFFF"/>
                </a:solidFill>
              </a:rPr>
              <a:t>Download</a:t>
            </a:r>
          </a:p>
        </p:txBody>
      </p:sp>
    </p:spTree>
    <p:extLst>
      <p:ext uri="{BB962C8B-B14F-4D97-AF65-F5344CB8AC3E}">
        <p14:creationId xmlns:p14="http://schemas.microsoft.com/office/powerpoint/2010/main" val="414743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wipe/>
      </p:transition>
    </mc:Choice>
    <mc:Fallback xmlns="">
      <p:transition>
        <p:wipe/>
      </p:transition>
    </mc:Fallback>
  </mc:AlternateContent>
</p:sld>
</file>

<file path=ppt/theme/theme1.xml><?xml version="1.0" encoding="utf-8"?>
<a:theme xmlns:a="http://schemas.openxmlformats.org/drawingml/2006/main" name="Master Trinity HP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BO_Trinity_GmbH_II_de.potx" id="{366E3630-B22C-4E3D-9747-5BF531C635D7}" vid="{A13D97C2-B7B5-48B2-9998-D663CCBE7394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MBO_Trinity_GmbH_II_de</Template>
  <TotalTime>0</TotalTime>
  <Words>560</Words>
  <Application>Microsoft Office PowerPoint</Application>
  <PresentationFormat>Breitbild</PresentationFormat>
  <Paragraphs>79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Master Trinity HP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MBO Services GmbH</dc:creator>
  <cp:lastModifiedBy>Office MBO Services GmbH</cp:lastModifiedBy>
  <cp:revision>30</cp:revision>
  <dcterms:created xsi:type="dcterms:W3CDTF">2025-05-08T11:48:37Z</dcterms:created>
  <dcterms:modified xsi:type="dcterms:W3CDTF">2026-01-13T13:59:28Z</dcterms:modified>
</cp:coreProperties>
</file>